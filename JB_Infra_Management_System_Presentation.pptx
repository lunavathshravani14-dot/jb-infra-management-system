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3B82F6"/>
          </a:solidFill>
          <a:ln w="12700">
            <a:solidFill>
              <a:srgbClr val="3B82F6"/>
            </a:solidFill>
            <a:prstDash val="solid"/>
          </a:ln>
        </p:spPr>
      </p:sp>
      <p:pic>
        <p:nvPicPr>
          <p:cNvPr id="3" name="Image 0" descr="C:\Users\lunav\OneDrive\Desktop\JB\public\logo.png">    </p:cNvPr>
          <p:cNvPicPr>
            <a:picLocks noChangeAspect="1"/>
          </p:cNvPicPr>
          <p:nvPr/>
        </p:nvPicPr>
        <p:blipFill>
          <a:blip r:embed="rId1"/>
          <a:srcRect l="0" r="0" t="0" b="0"/>
          <a:stretch/>
        </p:blipFill>
        <p:spPr>
          <a:xfrm>
            <a:off x="4937760" y="914400"/>
            <a:ext cx="2286000" cy="1188720"/>
          </a:xfrm>
          <a:prstGeom prst="rect">
            <a:avLst/>
          </a:prstGeom>
        </p:spPr>
      </p:pic>
      <p:sp>
        <p:nvSpPr>
          <p:cNvPr id="4" name="Shape 1"/>
          <p:cNvSpPr/>
          <p:nvPr/>
        </p:nvSpPr>
        <p:spPr>
          <a:xfrm>
            <a:off x="3291840" y="2286000"/>
            <a:ext cx="5605272" cy="365760"/>
          </a:xfrm>
          <a:prstGeom prst="roundRect">
            <a:avLst>
              <a:gd name="adj" fmla="val 50000"/>
            </a:avLst>
          </a:prstGeom>
          <a:solidFill>
            <a:srgbClr val="172554"/>
          </a:solidFill>
          <a:ln w="12700">
            <a:solidFill>
              <a:srgbClr val="3B82F6"/>
            </a:solidFill>
            <a:prstDash val="solid"/>
          </a:ln>
        </p:spPr>
      </p:sp>
      <p:sp>
        <p:nvSpPr>
          <p:cNvPr id="5" name="Text 2"/>
          <p:cNvSpPr/>
          <p:nvPr/>
        </p:nvSpPr>
        <p:spPr>
          <a:xfrm>
            <a:off x="3291840" y="2286000"/>
            <a:ext cx="5605272" cy="365760"/>
          </a:xfrm>
          <a:prstGeom prst="rect">
            <a:avLst/>
          </a:prstGeom>
          <a:noFill/>
          <a:ln/>
        </p:spPr>
        <p:txBody>
          <a:bodyPr wrap="square" rtlCol="0" anchor="ctr"/>
          <a:lstStyle/>
          <a:p>
            <a:pPr algn="ctr" indent="0" marL="0">
              <a:buNone/>
            </a:pPr>
            <a:r>
              <a:rPr lang="en-US" sz="1000" b="1" dirty="0">
                <a:solidFill>
                  <a:srgbClr val="F59E0B"/>
                </a:solidFill>
                <a:latin typeface="Segoe UI" pitchFamily="34" charset="0"/>
                <a:ea typeface="Segoe UI" pitchFamily="34" charset="-122"/>
                <a:cs typeface="Segoe UI" pitchFamily="34" charset="-120"/>
              </a:rPr>
              <a:t>ENTERPRISE RULE: ONE PERSON = ONE PERMANENT UNIQUE ID</a:t>
            </a:r>
            <a:endParaRPr lang="en-US" sz="1000" dirty="0"/>
          </a:p>
        </p:txBody>
      </p:sp>
      <p:sp>
        <p:nvSpPr>
          <p:cNvPr id="6" name="Text 3"/>
          <p:cNvSpPr/>
          <p:nvPr/>
        </p:nvSpPr>
        <p:spPr>
          <a:xfrm>
            <a:off x="914400" y="2743200"/>
            <a:ext cx="10360152" cy="822960"/>
          </a:xfrm>
          <a:prstGeom prst="rect">
            <a:avLst/>
          </a:prstGeom>
          <a:noFill/>
          <a:ln/>
        </p:spPr>
        <p:txBody>
          <a:bodyPr wrap="square" rtlCol="0" anchor="ctr"/>
          <a:lstStyle/>
          <a:p>
            <a:pPr algn="ctr" indent="0" marL="0">
              <a:buNone/>
            </a:pPr>
            <a:r>
              <a:rPr lang="en-US" sz="3400" b="1" dirty="0">
                <a:solidFill>
                  <a:srgbClr val="FFFFFF"/>
                </a:solidFill>
                <a:latin typeface="Segoe UI" pitchFamily="34" charset="0"/>
                <a:ea typeface="Segoe UI" pitchFamily="34" charset="-122"/>
                <a:cs typeface="Segoe UI" pitchFamily="34" charset="-120"/>
              </a:rPr>
              <a:t>JB INFRA MANAGEMENT SYSTEM</a:t>
            </a:r>
            <a:endParaRPr lang="en-US" sz="3400" dirty="0"/>
          </a:p>
        </p:txBody>
      </p:sp>
      <p:sp>
        <p:nvSpPr>
          <p:cNvPr id="7" name="Text 4"/>
          <p:cNvSpPr/>
          <p:nvPr/>
        </p:nvSpPr>
        <p:spPr>
          <a:xfrm>
            <a:off x="1371600" y="3566160"/>
            <a:ext cx="9445752" cy="548640"/>
          </a:xfrm>
          <a:prstGeom prst="rect">
            <a:avLst/>
          </a:prstGeom>
          <a:noFill/>
          <a:ln/>
        </p:spPr>
        <p:txBody>
          <a:bodyPr wrap="square" rtlCol="0" anchor="ctr"/>
          <a:lstStyle/>
          <a:p>
            <a:pPr algn="ctr" indent="0" marL="0">
              <a:buNone/>
            </a:pPr>
            <a:r>
              <a:rPr lang="en-US" sz="1600" dirty="0">
                <a:solidFill>
                  <a:srgbClr val="94A3B8"/>
                </a:solidFill>
                <a:latin typeface="Segoe UI" pitchFamily="34" charset="0"/>
                <a:ea typeface="Segoe UI" pitchFamily="34" charset="-122"/>
                <a:cs typeface="Segoe UI" pitchFamily="34" charset="-120"/>
              </a:rPr>
              <a:t>Next-Generation Associate Onboarding, Cadre Hierarchy &amp; Smart ID Governance</a:t>
            </a:r>
            <a:endParaRPr lang="en-US" sz="1600" dirty="0"/>
          </a:p>
        </p:txBody>
      </p:sp>
      <p:sp>
        <p:nvSpPr>
          <p:cNvPr id="8" name="Shape 5"/>
          <p:cNvSpPr/>
          <p:nvPr/>
        </p:nvSpPr>
        <p:spPr>
          <a:xfrm>
            <a:off x="1645920" y="4389120"/>
            <a:ext cx="2834640" cy="822960"/>
          </a:xfrm>
          <a:prstGeom prst="roundRect">
            <a:avLst>
              <a:gd name="adj" fmla="val 11111"/>
            </a:avLst>
          </a:prstGeom>
          <a:solidFill>
            <a:srgbClr val="1E293B"/>
          </a:solidFill>
          <a:ln w="12700">
            <a:solidFill>
              <a:srgbClr val="334155"/>
            </a:solidFill>
            <a:prstDash val="solid"/>
          </a:ln>
        </p:spPr>
      </p:sp>
      <p:sp>
        <p:nvSpPr>
          <p:cNvPr id="9" name="Shape 6"/>
          <p:cNvSpPr/>
          <p:nvPr/>
        </p:nvSpPr>
        <p:spPr>
          <a:xfrm>
            <a:off x="1645920" y="4389120"/>
            <a:ext cx="91440" cy="822960"/>
          </a:xfrm>
          <a:prstGeom prst="rect">
            <a:avLst/>
          </a:prstGeom>
          <a:solidFill>
            <a:srgbClr val="10B981"/>
          </a:solidFill>
          <a:ln w="12700">
            <a:solidFill>
              <a:srgbClr val="10B981"/>
            </a:solidFill>
            <a:prstDash val="solid"/>
          </a:ln>
        </p:spPr>
      </p:sp>
      <p:sp>
        <p:nvSpPr>
          <p:cNvPr id="10" name="Text 7"/>
          <p:cNvSpPr/>
          <p:nvPr/>
        </p:nvSpPr>
        <p:spPr>
          <a:xfrm>
            <a:off x="1828800" y="4389120"/>
            <a:ext cx="2560320" cy="8229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Split-Screen KYC Review</a:t>
            </a:r>
            <a:endParaRPr lang="en-US" sz="1100" dirty="0"/>
          </a:p>
        </p:txBody>
      </p:sp>
      <p:sp>
        <p:nvSpPr>
          <p:cNvPr id="11" name="Shape 8"/>
          <p:cNvSpPr/>
          <p:nvPr/>
        </p:nvSpPr>
        <p:spPr>
          <a:xfrm>
            <a:off x="4754880" y="4389120"/>
            <a:ext cx="2834640" cy="822960"/>
          </a:xfrm>
          <a:prstGeom prst="roundRect">
            <a:avLst>
              <a:gd name="adj" fmla="val 11111"/>
            </a:avLst>
          </a:prstGeom>
          <a:solidFill>
            <a:srgbClr val="1E293B"/>
          </a:solidFill>
          <a:ln w="12700">
            <a:solidFill>
              <a:srgbClr val="334155"/>
            </a:solidFill>
            <a:prstDash val="solid"/>
          </a:ln>
        </p:spPr>
      </p:sp>
      <p:sp>
        <p:nvSpPr>
          <p:cNvPr id="12" name="Shape 9"/>
          <p:cNvSpPr/>
          <p:nvPr/>
        </p:nvSpPr>
        <p:spPr>
          <a:xfrm>
            <a:off x="4754880" y="4389120"/>
            <a:ext cx="91440" cy="822960"/>
          </a:xfrm>
          <a:prstGeom prst="rect">
            <a:avLst/>
          </a:prstGeom>
          <a:solidFill>
            <a:srgbClr val="3B82F6"/>
          </a:solidFill>
          <a:ln w="12700">
            <a:solidFill>
              <a:srgbClr val="3B82F6"/>
            </a:solidFill>
            <a:prstDash val="solid"/>
          </a:ln>
        </p:spPr>
      </p:sp>
      <p:sp>
        <p:nvSpPr>
          <p:cNvPr id="13" name="Text 10"/>
          <p:cNvSpPr/>
          <p:nvPr/>
        </p:nvSpPr>
        <p:spPr>
          <a:xfrm>
            <a:off x="4937760" y="4389120"/>
            <a:ext cx="2560320" cy="8229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Instant Anti-Counterfeit QR ID Cards</a:t>
            </a:r>
            <a:endParaRPr lang="en-US" sz="1100" dirty="0"/>
          </a:p>
        </p:txBody>
      </p:sp>
      <p:sp>
        <p:nvSpPr>
          <p:cNvPr id="14" name="Shape 11"/>
          <p:cNvSpPr/>
          <p:nvPr/>
        </p:nvSpPr>
        <p:spPr>
          <a:xfrm>
            <a:off x="7863840" y="4389120"/>
            <a:ext cx="2834640" cy="822960"/>
          </a:xfrm>
          <a:prstGeom prst="roundRect">
            <a:avLst>
              <a:gd name="adj" fmla="val 11111"/>
            </a:avLst>
          </a:prstGeom>
          <a:solidFill>
            <a:srgbClr val="1E293B"/>
          </a:solidFill>
          <a:ln w="12700">
            <a:solidFill>
              <a:srgbClr val="334155"/>
            </a:solidFill>
            <a:prstDash val="solid"/>
          </a:ln>
        </p:spPr>
      </p:sp>
      <p:sp>
        <p:nvSpPr>
          <p:cNvPr id="15" name="Shape 12"/>
          <p:cNvSpPr/>
          <p:nvPr/>
        </p:nvSpPr>
        <p:spPr>
          <a:xfrm>
            <a:off x="7863840" y="4389120"/>
            <a:ext cx="91440" cy="822960"/>
          </a:xfrm>
          <a:prstGeom prst="rect">
            <a:avLst/>
          </a:prstGeom>
          <a:solidFill>
            <a:srgbClr val="8B5CF6"/>
          </a:solidFill>
          <a:ln w="12700">
            <a:solidFill>
              <a:srgbClr val="8B5CF6"/>
            </a:solidFill>
            <a:prstDash val="solid"/>
          </a:ln>
        </p:spPr>
      </p:sp>
      <p:sp>
        <p:nvSpPr>
          <p:cNvPr id="16" name="Text 13"/>
          <p:cNvSpPr/>
          <p:nvPr/>
        </p:nvSpPr>
        <p:spPr>
          <a:xfrm>
            <a:off x="8046720" y="4389120"/>
            <a:ext cx="2560320" cy="8229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Dynamic Downline Tree Tracking</a:t>
            </a:r>
            <a:endParaRPr lang="en-US" sz="1100" dirty="0"/>
          </a:p>
        </p:txBody>
      </p:sp>
      <p:sp>
        <p:nvSpPr>
          <p:cNvPr id="17" name="Text 14"/>
          <p:cNvSpPr/>
          <p:nvPr/>
        </p:nvSpPr>
        <p:spPr>
          <a:xfrm>
            <a:off x="914400" y="5852160"/>
            <a:ext cx="10360152" cy="36576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Comprehensive Technical &amp; Business Pitch • Ready for Production Deployment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THE PROBLEM</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Current Operational Bottlenecks in Field Management</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3383280" cy="4480560"/>
          </a:xfrm>
          <a:prstGeom prst="roundRect">
            <a:avLst>
              <a:gd name="adj" fmla="val 4054"/>
            </a:avLst>
          </a:prstGeom>
          <a:solidFill>
            <a:srgbClr val="1E293B"/>
          </a:solidFill>
          <a:ln w="12700">
            <a:solidFill>
              <a:srgbClr val="334155"/>
            </a:solidFill>
            <a:prstDash val="solid"/>
          </a:ln>
        </p:spPr>
      </p:sp>
      <p:sp>
        <p:nvSpPr>
          <p:cNvPr id="8" name="Text 5"/>
          <p:cNvSpPr/>
          <p:nvPr/>
        </p:nvSpPr>
        <p:spPr>
          <a:xfrm>
            <a:off x="1005840" y="1737360"/>
            <a:ext cx="914400" cy="457200"/>
          </a:xfrm>
          <a:prstGeom prst="rect">
            <a:avLst/>
          </a:prstGeom>
          <a:noFill/>
          <a:ln/>
        </p:spPr>
        <p:txBody>
          <a:bodyPr wrap="square" rtlCol="0" anchor="ctr"/>
          <a:lstStyle/>
          <a:p>
            <a:pPr indent="0" marL="0">
              <a:buNone/>
            </a:pPr>
            <a:r>
              <a:rPr lang="en-US" sz="2400" b="1" dirty="0">
                <a:solidFill>
                  <a:srgbClr val="3B82F6"/>
                </a:solidFill>
                <a:latin typeface="Segoe UI" pitchFamily="34" charset="0"/>
                <a:ea typeface="Segoe UI" pitchFamily="34" charset="-122"/>
                <a:cs typeface="Segoe UI" pitchFamily="34" charset="-120"/>
              </a:rPr>
              <a:t>01</a:t>
            </a:r>
            <a:endParaRPr lang="en-US" sz="2400" dirty="0"/>
          </a:p>
        </p:txBody>
      </p:sp>
      <p:sp>
        <p:nvSpPr>
          <p:cNvPr id="9" name="Shape 6"/>
          <p:cNvSpPr/>
          <p:nvPr/>
        </p:nvSpPr>
        <p:spPr>
          <a:xfrm>
            <a:off x="1920240" y="1783080"/>
            <a:ext cx="1920240" cy="320040"/>
          </a:xfrm>
          <a:prstGeom prst="roundRect">
            <a:avLst>
              <a:gd name="adj" fmla="val 22857"/>
            </a:avLst>
          </a:prstGeom>
          <a:solidFill>
            <a:srgbClr val="2A1215"/>
          </a:solidFill>
          <a:ln w="12700">
            <a:solidFill>
              <a:srgbClr val="EF4444"/>
            </a:solidFill>
            <a:prstDash val="solid"/>
          </a:ln>
        </p:spPr>
      </p:sp>
      <p:sp>
        <p:nvSpPr>
          <p:cNvPr id="10" name="Text 7"/>
          <p:cNvSpPr/>
          <p:nvPr/>
        </p:nvSpPr>
        <p:spPr>
          <a:xfrm>
            <a:off x="1920240" y="1783080"/>
            <a:ext cx="1920240" cy="320040"/>
          </a:xfrm>
          <a:prstGeom prst="rect">
            <a:avLst/>
          </a:prstGeom>
          <a:noFill/>
          <a:ln/>
        </p:spPr>
        <p:txBody>
          <a:bodyPr wrap="square" rtlCol="0" anchor="ctr"/>
          <a:lstStyle/>
          <a:p>
            <a:pPr algn="ctr" indent="0" marL="0">
              <a:buNone/>
            </a:pPr>
            <a:r>
              <a:rPr lang="en-US" sz="900" b="1" dirty="0">
                <a:solidFill>
                  <a:srgbClr val="EF4444"/>
                </a:solidFill>
                <a:latin typeface="Segoe UI" pitchFamily="34" charset="0"/>
                <a:ea typeface="Segoe UI" pitchFamily="34" charset="-122"/>
                <a:cs typeface="Segoe UI" pitchFamily="34" charset="-120"/>
              </a:rPr>
              <a:t>Identity Duplication</a:t>
            </a:r>
            <a:endParaRPr lang="en-US" sz="900" dirty="0"/>
          </a:p>
        </p:txBody>
      </p:sp>
      <p:sp>
        <p:nvSpPr>
          <p:cNvPr id="11" name="Text 8"/>
          <p:cNvSpPr/>
          <p:nvPr/>
        </p:nvSpPr>
        <p:spPr>
          <a:xfrm>
            <a:off x="1005840" y="2377440"/>
            <a:ext cx="2834640" cy="8229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Fragmented Identities Across Promotions</a:t>
            </a:r>
            <a:endParaRPr lang="en-US" sz="1500" dirty="0"/>
          </a:p>
        </p:txBody>
      </p:sp>
      <p:sp>
        <p:nvSpPr>
          <p:cNvPr id="12" name="Text 9"/>
          <p:cNvSpPr/>
          <p:nvPr/>
        </p:nvSpPr>
        <p:spPr>
          <a:xfrm>
            <a:off x="1005840" y="3291840"/>
            <a:ext cx="28346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When field associates are promoted from ME to GM or ED, manual records lose history. Duplicate IDs are created, breaking downline lineage and sales tracking.</a:t>
            </a:r>
            <a:endParaRPr lang="en-US" sz="1200" dirty="0"/>
          </a:p>
        </p:txBody>
      </p:sp>
      <p:sp>
        <p:nvSpPr>
          <p:cNvPr id="13" name="Shape 10"/>
          <p:cNvSpPr/>
          <p:nvPr/>
        </p:nvSpPr>
        <p:spPr>
          <a:xfrm>
            <a:off x="4389120" y="1463040"/>
            <a:ext cx="3383280" cy="4480560"/>
          </a:xfrm>
          <a:prstGeom prst="roundRect">
            <a:avLst>
              <a:gd name="adj" fmla="val 4054"/>
            </a:avLst>
          </a:prstGeom>
          <a:solidFill>
            <a:srgbClr val="1E293B"/>
          </a:solidFill>
          <a:ln w="12700">
            <a:solidFill>
              <a:srgbClr val="334155"/>
            </a:solidFill>
            <a:prstDash val="solid"/>
          </a:ln>
        </p:spPr>
      </p:sp>
      <p:sp>
        <p:nvSpPr>
          <p:cNvPr id="14" name="Text 11"/>
          <p:cNvSpPr/>
          <p:nvPr/>
        </p:nvSpPr>
        <p:spPr>
          <a:xfrm>
            <a:off x="4663440" y="1737360"/>
            <a:ext cx="914400" cy="457200"/>
          </a:xfrm>
          <a:prstGeom prst="rect">
            <a:avLst/>
          </a:prstGeom>
          <a:noFill/>
          <a:ln/>
        </p:spPr>
        <p:txBody>
          <a:bodyPr wrap="square" rtlCol="0" anchor="ctr"/>
          <a:lstStyle/>
          <a:p>
            <a:pPr indent="0" marL="0">
              <a:buNone/>
            </a:pPr>
            <a:r>
              <a:rPr lang="en-US" sz="2400" b="1" dirty="0">
                <a:solidFill>
                  <a:srgbClr val="3B82F6"/>
                </a:solidFill>
                <a:latin typeface="Segoe UI" pitchFamily="34" charset="0"/>
                <a:ea typeface="Segoe UI" pitchFamily="34" charset="-122"/>
                <a:cs typeface="Segoe UI" pitchFamily="34" charset="-120"/>
              </a:rPr>
              <a:t>02</a:t>
            </a:r>
            <a:endParaRPr lang="en-US" sz="2400" dirty="0"/>
          </a:p>
        </p:txBody>
      </p:sp>
      <p:sp>
        <p:nvSpPr>
          <p:cNvPr id="15" name="Shape 12"/>
          <p:cNvSpPr/>
          <p:nvPr/>
        </p:nvSpPr>
        <p:spPr>
          <a:xfrm>
            <a:off x="5577840" y="1783080"/>
            <a:ext cx="1920240" cy="320040"/>
          </a:xfrm>
          <a:prstGeom prst="roundRect">
            <a:avLst>
              <a:gd name="adj" fmla="val 22857"/>
            </a:avLst>
          </a:prstGeom>
          <a:solidFill>
            <a:srgbClr val="2A1215"/>
          </a:solidFill>
          <a:ln w="12700">
            <a:solidFill>
              <a:srgbClr val="F59E0B"/>
            </a:solidFill>
            <a:prstDash val="solid"/>
          </a:ln>
        </p:spPr>
      </p:sp>
      <p:sp>
        <p:nvSpPr>
          <p:cNvPr id="16" name="Text 13"/>
          <p:cNvSpPr/>
          <p:nvPr/>
        </p:nvSpPr>
        <p:spPr>
          <a:xfrm>
            <a:off x="5577840" y="1783080"/>
            <a:ext cx="1920240" cy="320040"/>
          </a:xfrm>
          <a:prstGeom prst="rect">
            <a:avLst/>
          </a:prstGeom>
          <a:noFill/>
          <a:ln/>
        </p:spPr>
        <p:txBody>
          <a:bodyPr wrap="square" rtlCol="0" anchor="ctr"/>
          <a:lstStyle/>
          <a:p>
            <a:pPr algn="ctr" indent="0" marL="0">
              <a:buNone/>
            </a:pPr>
            <a:r>
              <a:rPr lang="en-US" sz="900" b="1" dirty="0">
                <a:solidFill>
                  <a:srgbClr val="F59E0B"/>
                </a:solidFill>
                <a:latin typeface="Segoe UI" pitchFamily="34" charset="0"/>
                <a:ea typeface="Segoe UI" pitchFamily="34" charset="-122"/>
                <a:cs typeface="Segoe UI" pitchFamily="34" charset="-120"/>
              </a:rPr>
              <a:t>High Turnaround Latency</a:t>
            </a:r>
            <a:endParaRPr lang="en-US" sz="900" dirty="0"/>
          </a:p>
        </p:txBody>
      </p:sp>
      <p:sp>
        <p:nvSpPr>
          <p:cNvPr id="17" name="Text 14"/>
          <p:cNvSpPr/>
          <p:nvPr/>
        </p:nvSpPr>
        <p:spPr>
          <a:xfrm>
            <a:off x="4663440" y="2377440"/>
            <a:ext cx="2834640" cy="8229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Slow, Paper-Heavy KYC Approval Cycles</a:t>
            </a:r>
            <a:endParaRPr lang="en-US" sz="1500" dirty="0"/>
          </a:p>
        </p:txBody>
      </p:sp>
      <p:sp>
        <p:nvSpPr>
          <p:cNvPr id="18" name="Text 15"/>
          <p:cNvSpPr/>
          <p:nvPr/>
        </p:nvSpPr>
        <p:spPr>
          <a:xfrm>
            <a:off x="4663440" y="3291840"/>
            <a:ext cx="28346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Physical paper collection of Aadhaar and PAN documents takes 3-7 days. Incomplete documents stall onboarding, and sensitive PII gets scattered insecurely.</a:t>
            </a:r>
            <a:endParaRPr lang="en-US" sz="1200" dirty="0"/>
          </a:p>
        </p:txBody>
      </p:sp>
      <p:sp>
        <p:nvSpPr>
          <p:cNvPr id="19" name="Shape 16"/>
          <p:cNvSpPr/>
          <p:nvPr/>
        </p:nvSpPr>
        <p:spPr>
          <a:xfrm>
            <a:off x="8046720" y="1463040"/>
            <a:ext cx="3383280" cy="4480560"/>
          </a:xfrm>
          <a:prstGeom prst="roundRect">
            <a:avLst>
              <a:gd name="adj" fmla="val 4054"/>
            </a:avLst>
          </a:prstGeom>
          <a:solidFill>
            <a:srgbClr val="1E293B"/>
          </a:solidFill>
          <a:ln w="12700">
            <a:solidFill>
              <a:srgbClr val="334155"/>
            </a:solidFill>
            <a:prstDash val="solid"/>
          </a:ln>
        </p:spPr>
      </p:sp>
      <p:sp>
        <p:nvSpPr>
          <p:cNvPr id="20" name="Text 17"/>
          <p:cNvSpPr/>
          <p:nvPr/>
        </p:nvSpPr>
        <p:spPr>
          <a:xfrm>
            <a:off x="8321040" y="1737360"/>
            <a:ext cx="914400" cy="457200"/>
          </a:xfrm>
          <a:prstGeom prst="rect">
            <a:avLst/>
          </a:prstGeom>
          <a:noFill/>
          <a:ln/>
        </p:spPr>
        <p:txBody>
          <a:bodyPr wrap="square" rtlCol="0" anchor="ctr"/>
          <a:lstStyle/>
          <a:p>
            <a:pPr indent="0" marL="0">
              <a:buNone/>
            </a:pPr>
            <a:r>
              <a:rPr lang="en-US" sz="2400" b="1" dirty="0">
                <a:solidFill>
                  <a:srgbClr val="3B82F6"/>
                </a:solidFill>
                <a:latin typeface="Segoe UI" pitchFamily="34" charset="0"/>
                <a:ea typeface="Segoe UI" pitchFamily="34" charset="-122"/>
                <a:cs typeface="Segoe UI" pitchFamily="34" charset="-120"/>
              </a:rPr>
              <a:t>03</a:t>
            </a:r>
            <a:endParaRPr lang="en-US" sz="2400" dirty="0"/>
          </a:p>
        </p:txBody>
      </p:sp>
      <p:sp>
        <p:nvSpPr>
          <p:cNvPr id="21" name="Shape 18"/>
          <p:cNvSpPr/>
          <p:nvPr/>
        </p:nvSpPr>
        <p:spPr>
          <a:xfrm>
            <a:off x="9235440" y="1783080"/>
            <a:ext cx="1920240" cy="320040"/>
          </a:xfrm>
          <a:prstGeom prst="roundRect">
            <a:avLst>
              <a:gd name="adj" fmla="val 22857"/>
            </a:avLst>
          </a:prstGeom>
          <a:solidFill>
            <a:srgbClr val="2A1215"/>
          </a:solidFill>
          <a:ln w="12700">
            <a:solidFill>
              <a:srgbClr val="EF4444"/>
            </a:solidFill>
            <a:prstDash val="solid"/>
          </a:ln>
        </p:spPr>
      </p:sp>
      <p:sp>
        <p:nvSpPr>
          <p:cNvPr id="22" name="Text 19"/>
          <p:cNvSpPr/>
          <p:nvPr/>
        </p:nvSpPr>
        <p:spPr>
          <a:xfrm>
            <a:off x="9235440" y="1783080"/>
            <a:ext cx="1920240" cy="320040"/>
          </a:xfrm>
          <a:prstGeom prst="rect">
            <a:avLst/>
          </a:prstGeom>
          <a:noFill/>
          <a:ln/>
        </p:spPr>
        <p:txBody>
          <a:bodyPr wrap="square" rtlCol="0" anchor="ctr"/>
          <a:lstStyle/>
          <a:p>
            <a:pPr algn="ctr" indent="0" marL="0">
              <a:buNone/>
            </a:pPr>
            <a:r>
              <a:rPr lang="en-US" sz="900" b="1" dirty="0">
                <a:solidFill>
                  <a:srgbClr val="EF4444"/>
                </a:solidFill>
                <a:latin typeface="Segoe UI" pitchFamily="34" charset="0"/>
                <a:ea typeface="Segoe UI" pitchFamily="34" charset="-122"/>
                <a:cs typeface="Segoe UI" pitchFamily="34" charset="-120"/>
              </a:rPr>
              <a:t>Brand Vulnerability</a:t>
            </a:r>
            <a:endParaRPr lang="en-US" sz="900" dirty="0"/>
          </a:p>
        </p:txBody>
      </p:sp>
      <p:sp>
        <p:nvSpPr>
          <p:cNvPr id="23" name="Text 20"/>
          <p:cNvSpPr/>
          <p:nvPr/>
        </p:nvSpPr>
        <p:spPr>
          <a:xfrm>
            <a:off x="8321040" y="2377440"/>
            <a:ext cx="2834640" cy="8229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Counterfeiting &amp; Unauthorized Representation</a:t>
            </a:r>
            <a:endParaRPr lang="en-US" sz="1500" dirty="0"/>
          </a:p>
        </p:txBody>
      </p:sp>
      <p:sp>
        <p:nvSpPr>
          <p:cNvPr id="24" name="Text 21"/>
          <p:cNvSpPr/>
          <p:nvPr/>
        </p:nvSpPr>
        <p:spPr>
          <a:xfrm>
            <a:off x="8321040" y="3291840"/>
            <a:ext cx="28346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Printed cards lack dynamic digital verification. Clients and authorities cannot confirm real-time active status, exposing the firm to brand impersonation.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PLATFORM ARCHITECTURE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The Solution: Unified Dual-Portal Ecosystem</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5212080" cy="4572000"/>
          </a:xfrm>
          <a:prstGeom prst="roundRect">
            <a:avLst>
              <a:gd name="adj" fmla="val 3000"/>
            </a:avLst>
          </a:prstGeom>
          <a:solidFill>
            <a:srgbClr val="0F223D"/>
          </a:solidFill>
          <a:ln w="19050">
            <a:solidFill>
              <a:srgbClr val="3B82F6"/>
            </a:solidFill>
            <a:prstDash val="solid"/>
          </a:ln>
        </p:spPr>
      </p:sp>
      <p:sp>
        <p:nvSpPr>
          <p:cNvPr id="8" name="Text 5"/>
          <p:cNvSpPr/>
          <p:nvPr/>
        </p:nvSpPr>
        <p:spPr>
          <a:xfrm>
            <a:off x="1097280" y="1737360"/>
            <a:ext cx="448056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PORTAL 01</a:t>
            </a:r>
            <a:endParaRPr lang="en-US" sz="1100" dirty="0"/>
          </a:p>
        </p:txBody>
      </p:sp>
      <p:sp>
        <p:nvSpPr>
          <p:cNvPr id="9" name="Text 6"/>
          <p:cNvSpPr/>
          <p:nvPr/>
        </p:nvSpPr>
        <p:spPr>
          <a:xfrm>
            <a:off x="10972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Field Executive Self-Service Portal</a:t>
            </a:r>
            <a:endParaRPr lang="en-US" sz="1800" dirty="0"/>
          </a:p>
        </p:txBody>
      </p:sp>
      <p:sp>
        <p:nvSpPr>
          <p:cNvPr id="10" name="Text 7"/>
          <p:cNvSpPr/>
          <p:nvPr/>
        </p:nvSpPr>
        <p:spPr>
          <a:xfrm>
            <a:off x="1097280" y="2560320"/>
            <a:ext cx="4480560" cy="3200400"/>
          </a:xfrm>
          <a:prstGeom prst="rect">
            <a:avLst/>
          </a:prstGeom>
          <a:noFill/>
          <a:ln/>
        </p:spPr>
        <p:txBody>
          <a:bodyPr wrap="square" rtlCol="0" anchor="ctr"/>
          <a:lstStyle/>
          <a:p>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3-Minute Mobile Self-Enrollment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Multi-step wizard with Zod real-time validation.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Mandatory Digital Document Upload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Client-side validation of Aadhaar &amp; PAN PDFs.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Real-Time Application Tracker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Live statuses: Pending, Review, Approved, or Correction.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Instant Smart ID Card Download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Print-ready dual-sided wallet card with verification QR.
</a:t>
            </a:r>
            <a:endParaRPr lang="en-US" sz="1100" dirty="0"/>
          </a:p>
        </p:txBody>
      </p:sp>
      <p:sp>
        <p:nvSpPr>
          <p:cNvPr id="11" name="Shape 8"/>
          <p:cNvSpPr/>
          <p:nvPr/>
        </p:nvSpPr>
        <p:spPr>
          <a:xfrm>
            <a:off x="6217920" y="1463040"/>
            <a:ext cx="5212080" cy="4572000"/>
          </a:xfrm>
          <a:prstGeom prst="roundRect">
            <a:avLst>
              <a:gd name="adj" fmla="val 3000"/>
            </a:avLst>
          </a:prstGeom>
          <a:solidFill>
            <a:srgbClr val="2B1D0F"/>
          </a:solidFill>
          <a:ln w="19050">
            <a:solidFill>
              <a:srgbClr val="F59E0B"/>
            </a:solidFill>
            <a:prstDash val="solid"/>
          </a:ln>
        </p:spPr>
      </p:sp>
      <p:sp>
        <p:nvSpPr>
          <p:cNvPr id="12" name="Text 9"/>
          <p:cNvSpPr/>
          <p:nvPr/>
        </p:nvSpPr>
        <p:spPr>
          <a:xfrm>
            <a:off x="6583680" y="1737360"/>
            <a:ext cx="4480560" cy="274320"/>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PORTAL 02</a:t>
            </a:r>
            <a:endParaRPr lang="en-US" sz="1100" dirty="0"/>
          </a:p>
        </p:txBody>
      </p:sp>
      <p:sp>
        <p:nvSpPr>
          <p:cNvPr id="13" name="Text 10"/>
          <p:cNvSpPr/>
          <p:nvPr/>
        </p:nvSpPr>
        <p:spPr>
          <a:xfrm>
            <a:off x="65836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Enterprise Admin Command Center</a:t>
            </a:r>
            <a:endParaRPr lang="en-US" sz="1800" dirty="0"/>
          </a:p>
        </p:txBody>
      </p:sp>
      <p:sp>
        <p:nvSpPr>
          <p:cNvPr id="14" name="Text 11"/>
          <p:cNvSpPr/>
          <p:nvPr/>
        </p:nvSpPr>
        <p:spPr>
          <a:xfrm>
            <a:off x="6583680" y="2560320"/>
            <a:ext cx="4480560" cy="3200400"/>
          </a:xfrm>
          <a:prstGeom prst="rect">
            <a:avLst/>
          </a:prstGeom>
          <a:noFill/>
          <a:ln/>
        </p:spPr>
        <p:txBody>
          <a:bodyPr wrap="square" rtlCol="0" anchor="ctr"/>
          <a:lstStyle/>
          <a:p>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Split-Screen Live KYC Engine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Side-by-side applicant data and PDF viewer without download.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Seamless Cadre Progression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Promotions update career records without changing ID.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Dynamic Downline Hierarchy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Interactive organizational tree with cycle-loop safeguards.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ExcelJS Automated Reporting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Single-click export with cell formulas and styled sheets.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IDENTITY FOUNDATION</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Core Innovation: "One Person = One Permanent Unique ID"</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10698480" cy="1005840"/>
          </a:xfrm>
          <a:prstGeom prst="roundRect">
            <a:avLst>
              <a:gd name="adj" fmla="val 9091"/>
            </a:avLst>
          </a:prstGeom>
          <a:solidFill>
            <a:srgbClr val="1E293B"/>
          </a:solidFill>
          <a:ln w="19050">
            <a:solidFill>
              <a:srgbClr val="3B82F6"/>
            </a:solidFill>
            <a:prstDash val="solid"/>
          </a:ln>
        </p:spPr>
      </p:sp>
      <p:sp>
        <p:nvSpPr>
          <p:cNvPr id="8" name="Text 5"/>
          <p:cNvSpPr/>
          <p:nvPr/>
        </p:nvSpPr>
        <p:spPr>
          <a:xfrm>
            <a:off x="1005840" y="1645920"/>
            <a:ext cx="10058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THE GOLDEN ENTERPRISE RULE</a:t>
            </a:r>
            <a:endParaRPr lang="en-US" sz="1000" dirty="0"/>
          </a:p>
        </p:txBody>
      </p:sp>
      <p:sp>
        <p:nvSpPr>
          <p:cNvPr id="9" name="Text 6"/>
          <p:cNvSpPr/>
          <p:nvPr/>
        </p:nvSpPr>
        <p:spPr>
          <a:xfrm>
            <a:off x="1005840" y="1920240"/>
            <a:ext cx="1005840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Every associate receives a single permanent code (e.g. JBIN000104) that remains immutable for life.</a:t>
            </a:r>
            <a:endParaRPr lang="en-US" sz="1400" dirty="0"/>
          </a:p>
        </p:txBody>
      </p:sp>
      <p:sp>
        <p:nvSpPr>
          <p:cNvPr id="10" name="Shape 7"/>
          <p:cNvSpPr/>
          <p:nvPr/>
        </p:nvSpPr>
        <p:spPr>
          <a:xfrm>
            <a:off x="731520" y="2743200"/>
            <a:ext cx="3383280" cy="3383280"/>
          </a:xfrm>
          <a:prstGeom prst="roundRect">
            <a:avLst>
              <a:gd name="adj" fmla="val 4054"/>
            </a:avLst>
          </a:prstGeom>
          <a:solidFill>
            <a:srgbClr val="1C2541"/>
          </a:solidFill>
          <a:ln w="12700">
            <a:solidFill>
              <a:srgbClr val="334155"/>
            </a:solidFill>
            <a:prstDash val="solid"/>
          </a:ln>
        </p:spPr>
      </p:sp>
      <p:sp>
        <p:nvSpPr>
          <p:cNvPr id="11" name="Shape 8"/>
          <p:cNvSpPr/>
          <p:nvPr/>
        </p:nvSpPr>
        <p:spPr>
          <a:xfrm>
            <a:off x="1005840" y="3017520"/>
            <a:ext cx="548640" cy="548640"/>
          </a:xfrm>
          <a:prstGeom prst="ellipse">
            <a:avLst/>
          </a:prstGeom>
          <a:solidFill>
            <a:srgbClr val="3B82F6"/>
          </a:solidFill>
          <a:ln w="12700">
            <a:solidFill>
              <a:srgbClr val="3B82F6"/>
            </a:solidFill>
            <a:prstDash val="solid"/>
          </a:ln>
        </p:spPr>
      </p:sp>
      <p:sp>
        <p:nvSpPr>
          <p:cNvPr id="12" name="Text 9"/>
          <p:cNvSpPr/>
          <p:nvPr/>
        </p:nvSpPr>
        <p:spPr>
          <a:xfrm>
            <a:off x="1005840" y="3017520"/>
            <a:ext cx="548640" cy="5486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3" name="Text 10"/>
          <p:cNvSpPr/>
          <p:nvPr/>
        </p:nvSpPr>
        <p:spPr>
          <a:xfrm>
            <a:off x="1005840" y="3749040"/>
            <a:ext cx="283464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Promotion Without Fractured Records</a:t>
            </a:r>
            <a:endParaRPr lang="en-US" sz="1400" dirty="0"/>
          </a:p>
        </p:txBody>
      </p:sp>
      <p:sp>
        <p:nvSpPr>
          <p:cNvPr id="14" name="Text 11"/>
          <p:cNvSpPr/>
          <p:nvPr/>
        </p:nvSpPr>
        <p:spPr>
          <a:xfrm>
            <a:off x="1005840" y="4480560"/>
            <a:ext cx="2834640" cy="1463040"/>
          </a:xfrm>
          <a:prstGeom prst="rect">
            <a:avLst/>
          </a:prstGeom>
          <a:noFill/>
          <a:ln/>
        </p:spPr>
        <p:txBody>
          <a:bodyPr wrap="square" rtlCol="0" anchor="ctr"/>
          <a:lstStyle/>
          <a:p>
            <a:pPr indent="0" marL="0">
              <a:lnSpc>
                <a:spcPts val="1600"/>
              </a:lnSpc>
              <a:buNone/>
            </a:pPr>
            <a:r>
              <a:rPr lang="en-US" sz="1100" dirty="0">
                <a:solidFill>
                  <a:srgbClr val="94A3B8"/>
                </a:solidFill>
                <a:latin typeface="Segoe UI" pitchFamily="34" charset="0"/>
                <a:ea typeface="Segoe UI" pitchFamily="34" charset="-122"/>
                <a:cs typeface="Segoe UI" pitchFamily="34" charset="-120"/>
              </a:rPr>
              <a:t>When an executive rises to Manager, GM, or Executive Director, their cadre history updates in the database. Their JBIN ID and client relationships remain 100% consistent.</a:t>
            </a:r>
            <a:endParaRPr lang="en-US" sz="1100" dirty="0"/>
          </a:p>
        </p:txBody>
      </p:sp>
      <p:sp>
        <p:nvSpPr>
          <p:cNvPr id="15" name="Shape 12"/>
          <p:cNvSpPr/>
          <p:nvPr/>
        </p:nvSpPr>
        <p:spPr>
          <a:xfrm>
            <a:off x="4389120" y="2743200"/>
            <a:ext cx="3383280" cy="3383280"/>
          </a:xfrm>
          <a:prstGeom prst="roundRect">
            <a:avLst>
              <a:gd name="adj" fmla="val 4054"/>
            </a:avLst>
          </a:prstGeom>
          <a:solidFill>
            <a:srgbClr val="1C2541"/>
          </a:solidFill>
          <a:ln w="12700">
            <a:solidFill>
              <a:srgbClr val="334155"/>
            </a:solidFill>
            <a:prstDash val="solid"/>
          </a:ln>
        </p:spPr>
      </p:sp>
      <p:sp>
        <p:nvSpPr>
          <p:cNvPr id="16" name="Shape 13"/>
          <p:cNvSpPr/>
          <p:nvPr/>
        </p:nvSpPr>
        <p:spPr>
          <a:xfrm>
            <a:off x="4663440" y="3017520"/>
            <a:ext cx="548640" cy="548640"/>
          </a:xfrm>
          <a:prstGeom prst="ellipse">
            <a:avLst/>
          </a:prstGeom>
          <a:solidFill>
            <a:srgbClr val="3B82F6"/>
          </a:solidFill>
          <a:ln w="12700">
            <a:solidFill>
              <a:srgbClr val="3B82F6"/>
            </a:solidFill>
            <a:prstDash val="solid"/>
          </a:ln>
        </p:spPr>
      </p:sp>
      <p:sp>
        <p:nvSpPr>
          <p:cNvPr id="17" name="Text 14"/>
          <p:cNvSpPr/>
          <p:nvPr/>
        </p:nvSpPr>
        <p:spPr>
          <a:xfrm>
            <a:off x="4663440" y="3017520"/>
            <a:ext cx="548640" cy="5486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8" name="Text 15"/>
          <p:cNvSpPr/>
          <p:nvPr/>
        </p:nvSpPr>
        <p:spPr>
          <a:xfrm>
            <a:off x="4663440" y="3749040"/>
            <a:ext cx="283464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Automated Deduplication Protocol</a:t>
            </a:r>
            <a:endParaRPr lang="en-US" sz="1400" dirty="0"/>
          </a:p>
        </p:txBody>
      </p:sp>
      <p:sp>
        <p:nvSpPr>
          <p:cNvPr id="19" name="Text 16"/>
          <p:cNvSpPr/>
          <p:nvPr/>
        </p:nvSpPr>
        <p:spPr>
          <a:xfrm>
            <a:off x="4663440" y="4480560"/>
            <a:ext cx="2834640" cy="1463040"/>
          </a:xfrm>
          <a:prstGeom prst="rect">
            <a:avLst/>
          </a:prstGeom>
          <a:noFill/>
          <a:ln/>
        </p:spPr>
        <p:txBody>
          <a:bodyPr wrap="square" rtlCol="0" anchor="ctr"/>
          <a:lstStyle/>
          <a:p>
            <a:pPr indent="0" marL="0">
              <a:lnSpc>
                <a:spcPts val="1600"/>
              </a:lnSpc>
              <a:buNone/>
            </a:pPr>
            <a:r>
              <a:rPr lang="en-US" sz="1100" dirty="0">
                <a:solidFill>
                  <a:srgbClr val="94A3B8"/>
                </a:solidFill>
                <a:latin typeface="Segoe UI" pitchFamily="34" charset="0"/>
                <a:ea typeface="Segoe UI" pitchFamily="34" charset="-122"/>
                <a:cs typeface="Segoe UI" pitchFamily="34" charset="-120"/>
              </a:rPr>
              <a:t>The system automatically performs cryptographic hash checks on Aadhaar and PAN documents. An applicant cannot register duplicate profiles under aliases.</a:t>
            </a:r>
            <a:endParaRPr lang="en-US" sz="1100" dirty="0"/>
          </a:p>
        </p:txBody>
      </p:sp>
      <p:sp>
        <p:nvSpPr>
          <p:cNvPr id="20" name="Shape 17"/>
          <p:cNvSpPr/>
          <p:nvPr/>
        </p:nvSpPr>
        <p:spPr>
          <a:xfrm>
            <a:off x="8046720" y="2743200"/>
            <a:ext cx="3383280" cy="3383280"/>
          </a:xfrm>
          <a:prstGeom prst="roundRect">
            <a:avLst>
              <a:gd name="adj" fmla="val 4054"/>
            </a:avLst>
          </a:prstGeom>
          <a:solidFill>
            <a:srgbClr val="1C2541"/>
          </a:solidFill>
          <a:ln w="12700">
            <a:solidFill>
              <a:srgbClr val="334155"/>
            </a:solidFill>
            <a:prstDash val="solid"/>
          </a:ln>
        </p:spPr>
      </p:sp>
      <p:sp>
        <p:nvSpPr>
          <p:cNvPr id="21" name="Shape 18"/>
          <p:cNvSpPr/>
          <p:nvPr/>
        </p:nvSpPr>
        <p:spPr>
          <a:xfrm>
            <a:off x="8321040" y="3017520"/>
            <a:ext cx="548640" cy="548640"/>
          </a:xfrm>
          <a:prstGeom prst="ellipse">
            <a:avLst/>
          </a:prstGeom>
          <a:solidFill>
            <a:srgbClr val="3B82F6"/>
          </a:solidFill>
          <a:ln w="12700">
            <a:solidFill>
              <a:srgbClr val="3B82F6"/>
            </a:solidFill>
            <a:prstDash val="solid"/>
          </a:ln>
        </p:spPr>
      </p:sp>
      <p:sp>
        <p:nvSpPr>
          <p:cNvPr id="22" name="Text 19"/>
          <p:cNvSpPr/>
          <p:nvPr/>
        </p:nvSpPr>
        <p:spPr>
          <a:xfrm>
            <a:off x="8321040" y="3017520"/>
            <a:ext cx="548640" cy="5486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3" name="Text 20"/>
          <p:cNvSpPr/>
          <p:nvPr/>
        </p:nvSpPr>
        <p:spPr>
          <a:xfrm>
            <a:off x="8321040" y="3749040"/>
            <a:ext cx="283464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Flexible Sequence Management</a:t>
            </a:r>
            <a:endParaRPr lang="en-US" sz="1400" dirty="0"/>
          </a:p>
        </p:txBody>
      </p:sp>
      <p:sp>
        <p:nvSpPr>
          <p:cNvPr id="24" name="Text 21"/>
          <p:cNvSpPr/>
          <p:nvPr/>
        </p:nvSpPr>
        <p:spPr>
          <a:xfrm>
            <a:off x="8321040" y="4480560"/>
            <a:ext cx="2834640" cy="1463040"/>
          </a:xfrm>
          <a:prstGeom prst="rect">
            <a:avLst/>
          </a:prstGeom>
          <a:noFill/>
          <a:ln/>
        </p:spPr>
        <p:txBody>
          <a:bodyPr wrap="square" rtlCol="0" anchor="ctr"/>
          <a:lstStyle/>
          <a:p>
            <a:pPr indent="0" marL="0">
              <a:lnSpc>
                <a:spcPts val="1600"/>
              </a:lnSpc>
              <a:buNone/>
            </a:pPr>
            <a:r>
              <a:rPr lang="en-US" sz="1100" dirty="0">
                <a:solidFill>
                  <a:srgbClr val="94A3B8"/>
                </a:solidFill>
                <a:latin typeface="Segoe UI" pitchFamily="34" charset="0"/>
                <a:ea typeface="Segoe UI" pitchFamily="34" charset="-122"/>
                <a:cs typeface="Segoe UI" pitchFamily="34" charset="-120"/>
              </a:rPr>
              <a:t>Supports dynamic auto-incrementing JBIN 6-digit series as well as continuing legacy numbering series (e.g. continuing from JB10250) for zero disruption.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STRUCTURE &amp; GOVERNANCE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8-Tier Cadre Hierarchy &amp; Organizational Tree</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5212080" cy="475488"/>
          </a:xfrm>
          <a:prstGeom prst="roundRect">
            <a:avLst>
              <a:gd name="adj" fmla="val 15385"/>
            </a:avLst>
          </a:prstGeom>
          <a:solidFill>
            <a:srgbClr val="1E293B"/>
          </a:solidFill>
          <a:ln w="12700">
            <a:solidFill>
              <a:srgbClr val="334155"/>
            </a:solidFill>
            <a:prstDash val="solid"/>
          </a:ln>
        </p:spPr>
      </p:sp>
      <p:sp>
        <p:nvSpPr>
          <p:cNvPr id="8" name="Shape 5"/>
          <p:cNvSpPr/>
          <p:nvPr/>
        </p:nvSpPr>
        <p:spPr>
          <a:xfrm>
            <a:off x="731520" y="1463040"/>
            <a:ext cx="548640" cy="475488"/>
          </a:xfrm>
          <a:prstGeom prst="rect">
            <a:avLst/>
          </a:prstGeom>
          <a:solidFill>
            <a:srgbClr val="64748B"/>
          </a:solidFill>
          <a:ln w="12700">
            <a:solidFill>
              <a:srgbClr val="64748B"/>
            </a:solidFill>
            <a:prstDash val="solid"/>
          </a:ln>
        </p:spPr>
      </p:sp>
      <p:sp>
        <p:nvSpPr>
          <p:cNvPr id="9" name="Text 6"/>
          <p:cNvSpPr/>
          <p:nvPr/>
        </p:nvSpPr>
        <p:spPr>
          <a:xfrm>
            <a:off x="731520" y="1463040"/>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ME</a:t>
            </a:r>
            <a:endParaRPr lang="en-US" sz="1000" dirty="0"/>
          </a:p>
        </p:txBody>
      </p:sp>
      <p:sp>
        <p:nvSpPr>
          <p:cNvPr id="10" name="Text 7"/>
          <p:cNvSpPr/>
          <p:nvPr/>
        </p:nvSpPr>
        <p:spPr>
          <a:xfrm>
            <a:off x="1371600" y="1463040"/>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Marketing Executive</a:t>
            </a:r>
            <a:endParaRPr lang="en-US" sz="1100" dirty="0"/>
          </a:p>
        </p:txBody>
      </p:sp>
      <p:sp>
        <p:nvSpPr>
          <p:cNvPr id="11" name="Text 8"/>
          <p:cNvSpPr/>
          <p:nvPr/>
        </p:nvSpPr>
        <p:spPr>
          <a:xfrm>
            <a:off x="4389120" y="1463040"/>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L1</a:t>
            </a:r>
            <a:endParaRPr lang="en-US" sz="900" dirty="0"/>
          </a:p>
        </p:txBody>
      </p:sp>
      <p:sp>
        <p:nvSpPr>
          <p:cNvPr id="12" name="Shape 9"/>
          <p:cNvSpPr/>
          <p:nvPr/>
        </p:nvSpPr>
        <p:spPr>
          <a:xfrm>
            <a:off x="731520" y="2029968"/>
            <a:ext cx="5212080" cy="475488"/>
          </a:xfrm>
          <a:prstGeom prst="roundRect">
            <a:avLst>
              <a:gd name="adj" fmla="val 15385"/>
            </a:avLst>
          </a:prstGeom>
          <a:solidFill>
            <a:srgbClr val="1E293B"/>
          </a:solidFill>
          <a:ln w="12700">
            <a:solidFill>
              <a:srgbClr val="334155"/>
            </a:solidFill>
            <a:prstDash val="solid"/>
          </a:ln>
        </p:spPr>
      </p:sp>
      <p:sp>
        <p:nvSpPr>
          <p:cNvPr id="13" name="Shape 10"/>
          <p:cNvSpPr/>
          <p:nvPr/>
        </p:nvSpPr>
        <p:spPr>
          <a:xfrm>
            <a:off x="731520" y="2029968"/>
            <a:ext cx="548640" cy="475488"/>
          </a:xfrm>
          <a:prstGeom prst="rect">
            <a:avLst/>
          </a:prstGeom>
          <a:solidFill>
            <a:srgbClr val="0284C7"/>
          </a:solidFill>
          <a:ln w="12700">
            <a:solidFill>
              <a:srgbClr val="0284C7"/>
            </a:solidFill>
            <a:prstDash val="solid"/>
          </a:ln>
        </p:spPr>
      </p:sp>
      <p:sp>
        <p:nvSpPr>
          <p:cNvPr id="14" name="Text 11"/>
          <p:cNvSpPr/>
          <p:nvPr/>
        </p:nvSpPr>
        <p:spPr>
          <a:xfrm>
            <a:off x="731520" y="2029968"/>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MM</a:t>
            </a:r>
            <a:endParaRPr lang="en-US" sz="1000" dirty="0"/>
          </a:p>
        </p:txBody>
      </p:sp>
      <p:sp>
        <p:nvSpPr>
          <p:cNvPr id="15" name="Text 12"/>
          <p:cNvSpPr/>
          <p:nvPr/>
        </p:nvSpPr>
        <p:spPr>
          <a:xfrm>
            <a:off x="1371600" y="2029968"/>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Marketing Manager</a:t>
            </a:r>
            <a:endParaRPr lang="en-US" sz="1100" dirty="0"/>
          </a:p>
        </p:txBody>
      </p:sp>
      <p:sp>
        <p:nvSpPr>
          <p:cNvPr id="16" name="Text 13"/>
          <p:cNvSpPr/>
          <p:nvPr/>
        </p:nvSpPr>
        <p:spPr>
          <a:xfrm>
            <a:off x="4389120" y="2029968"/>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L2</a:t>
            </a:r>
            <a:endParaRPr lang="en-US" sz="900" dirty="0"/>
          </a:p>
        </p:txBody>
      </p:sp>
      <p:sp>
        <p:nvSpPr>
          <p:cNvPr id="17" name="Shape 14"/>
          <p:cNvSpPr/>
          <p:nvPr/>
        </p:nvSpPr>
        <p:spPr>
          <a:xfrm>
            <a:off x="731520" y="2596896"/>
            <a:ext cx="5212080" cy="475488"/>
          </a:xfrm>
          <a:prstGeom prst="roundRect">
            <a:avLst>
              <a:gd name="adj" fmla="val 15385"/>
            </a:avLst>
          </a:prstGeom>
          <a:solidFill>
            <a:srgbClr val="1E293B"/>
          </a:solidFill>
          <a:ln w="12700">
            <a:solidFill>
              <a:srgbClr val="334155"/>
            </a:solidFill>
            <a:prstDash val="solid"/>
          </a:ln>
        </p:spPr>
      </p:sp>
      <p:sp>
        <p:nvSpPr>
          <p:cNvPr id="18" name="Shape 15"/>
          <p:cNvSpPr/>
          <p:nvPr/>
        </p:nvSpPr>
        <p:spPr>
          <a:xfrm>
            <a:off x="731520" y="2596896"/>
            <a:ext cx="548640" cy="475488"/>
          </a:xfrm>
          <a:prstGeom prst="rect">
            <a:avLst/>
          </a:prstGeom>
          <a:solidFill>
            <a:srgbClr val="2563EB"/>
          </a:solidFill>
          <a:ln w="12700">
            <a:solidFill>
              <a:srgbClr val="2563EB"/>
            </a:solidFill>
            <a:prstDash val="solid"/>
          </a:ln>
        </p:spPr>
      </p:sp>
      <p:sp>
        <p:nvSpPr>
          <p:cNvPr id="19" name="Text 16"/>
          <p:cNvSpPr/>
          <p:nvPr/>
        </p:nvSpPr>
        <p:spPr>
          <a:xfrm>
            <a:off x="731520" y="2596896"/>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SMM</a:t>
            </a:r>
            <a:endParaRPr lang="en-US" sz="1000" dirty="0"/>
          </a:p>
        </p:txBody>
      </p:sp>
      <p:sp>
        <p:nvSpPr>
          <p:cNvPr id="20" name="Text 17"/>
          <p:cNvSpPr/>
          <p:nvPr/>
        </p:nvSpPr>
        <p:spPr>
          <a:xfrm>
            <a:off x="1371600" y="2596896"/>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Sr. Marketing Manager</a:t>
            </a:r>
            <a:endParaRPr lang="en-US" sz="1100" dirty="0"/>
          </a:p>
        </p:txBody>
      </p:sp>
      <p:sp>
        <p:nvSpPr>
          <p:cNvPr id="21" name="Text 18"/>
          <p:cNvSpPr/>
          <p:nvPr/>
        </p:nvSpPr>
        <p:spPr>
          <a:xfrm>
            <a:off x="4389120" y="2596896"/>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L3</a:t>
            </a:r>
            <a:endParaRPr lang="en-US" sz="900" dirty="0"/>
          </a:p>
        </p:txBody>
      </p:sp>
      <p:sp>
        <p:nvSpPr>
          <p:cNvPr id="22" name="Shape 19"/>
          <p:cNvSpPr/>
          <p:nvPr/>
        </p:nvSpPr>
        <p:spPr>
          <a:xfrm>
            <a:off x="731520" y="3163824"/>
            <a:ext cx="5212080" cy="475488"/>
          </a:xfrm>
          <a:prstGeom prst="roundRect">
            <a:avLst>
              <a:gd name="adj" fmla="val 15385"/>
            </a:avLst>
          </a:prstGeom>
          <a:solidFill>
            <a:srgbClr val="1E293B"/>
          </a:solidFill>
          <a:ln w="12700">
            <a:solidFill>
              <a:srgbClr val="334155"/>
            </a:solidFill>
            <a:prstDash val="solid"/>
          </a:ln>
        </p:spPr>
      </p:sp>
      <p:sp>
        <p:nvSpPr>
          <p:cNvPr id="23" name="Shape 20"/>
          <p:cNvSpPr/>
          <p:nvPr/>
        </p:nvSpPr>
        <p:spPr>
          <a:xfrm>
            <a:off x="731520" y="3163824"/>
            <a:ext cx="548640" cy="475488"/>
          </a:xfrm>
          <a:prstGeom prst="rect">
            <a:avLst/>
          </a:prstGeom>
          <a:solidFill>
            <a:srgbClr val="4F46E5"/>
          </a:solidFill>
          <a:ln w="12700">
            <a:solidFill>
              <a:srgbClr val="4F46E5"/>
            </a:solidFill>
            <a:prstDash val="solid"/>
          </a:ln>
        </p:spPr>
      </p:sp>
      <p:sp>
        <p:nvSpPr>
          <p:cNvPr id="24" name="Text 21"/>
          <p:cNvSpPr/>
          <p:nvPr/>
        </p:nvSpPr>
        <p:spPr>
          <a:xfrm>
            <a:off x="731520" y="3163824"/>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AGM</a:t>
            </a:r>
            <a:endParaRPr lang="en-US" sz="1000" dirty="0"/>
          </a:p>
        </p:txBody>
      </p:sp>
      <p:sp>
        <p:nvSpPr>
          <p:cNvPr id="25" name="Text 22"/>
          <p:cNvSpPr/>
          <p:nvPr/>
        </p:nvSpPr>
        <p:spPr>
          <a:xfrm>
            <a:off x="1371600" y="3163824"/>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Asst. General Manager</a:t>
            </a:r>
            <a:endParaRPr lang="en-US" sz="1100" dirty="0"/>
          </a:p>
        </p:txBody>
      </p:sp>
      <p:sp>
        <p:nvSpPr>
          <p:cNvPr id="26" name="Text 23"/>
          <p:cNvSpPr/>
          <p:nvPr/>
        </p:nvSpPr>
        <p:spPr>
          <a:xfrm>
            <a:off x="4389120" y="3163824"/>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L4</a:t>
            </a:r>
            <a:endParaRPr lang="en-US" sz="900" dirty="0"/>
          </a:p>
        </p:txBody>
      </p:sp>
      <p:sp>
        <p:nvSpPr>
          <p:cNvPr id="27" name="Shape 24"/>
          <p:cNvSpPr/>
          <p:nvPr/>
        </p:nvSpPr>
        <p:spPr>
          <a:xfrm>
            <a:off x="731520" y="3730752"/>
            <a:ext cx="5212080" cy="475488"/>
          </a:xfrm>
          <a:prstGeom prst="roundRect">
            <a:avLst>
              <a:gd name="adj" fmla="val 15385"/>
            </a:avLst>
          </a:prstGeom>
          <a:solidFill>
            <a:srgbClr val="1E293B"/>
          </a:solidFill>
          <a:ln w="12700">
            <a:solidFill>
              <a:srgbClr val="334155"/>
            </a:solidFill>
            <a:prstDash val="solid"/>
          </a:ln>
        </p:spPr>
      </p:sp>
      <p:sp>
        <p:nvSpPr>
          <p:cNvPr id="28" name="Shape 25"/>
          <p:cNvSpPr/>
          <p:nvPr/>
        </p:nvSpPr>
        <p:spPr>
          <a:xfrm>
            <a:off x="731520" y="3730752"/>
            <a:ext cx="548640" cy="475488"/>
          </a:xfrm>
          <a:prstGeom prst="rect">
            <a:avLst/>
          </a:prstGeom>
          <a:solidFill>
            <a:srgbClr val="7C3AED"/>
          </a:solidFill>
          <a:ln w="12700">
            <a:solidFill>
              <a:srgbClr val="7C3AED"/>
            </a:solidFill>
            <a:prstDash val="solid"/>
          </a:ln>
        </p:spPr>
      </p:sp>
      <p:sp>
        <p:nvSpPr>
          <p:cNvPr id="29" name="Text 26"/>
          <p:cNvSpPr/>
          <p:nvPr/>
        </p:nvSpPr>
        <p:spPr>
          <a:xfrm>
            <a:off x="731520" y="3730752"/>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DGM</a:t>
            </a:r>
            <a:endParaRPr lang="en-US" sz="1000" dirty="0"/>
          </a:p>
        </p:txBody>
      </p:sp>
      <p:sp>
        <p:nvSpPr>
          <p:cNvPr id="30" name="Text 27"/>
          <p:cNvSpPr/>
          <p:nvPr/>
        </p:nvSpPr>
        <p:spPr>
          <a:xfrm>
            <a:off x="1371600" y="3730752"/>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Deputy General Manager</a:t>
            </a:r>
            <a:endParaRPr lang="en-US" sz="1100" dirty="0"/>
          </a:p>
        </p:txBody>
      </p:sp>
      <p:sp>
        <p:nvSpPr>
          <p:cNvPr id="31" name="Text 28"/>
          <p:cNvSpPr/>
          <p:nvPr/>
        </p:nvSpPr>
        <p:spPr>
          <a:xfrm>
            <a:off x="4389120" y="3730752"/>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L5</a:t>
            </a:r>
            <a:endParaRPr lang="en-US" sz="900" dirty="0"/>
          </a:p>
        </p:txBody>
      </p:sp>
      <p:sp>
        <p:nvSpPr>
          <p:cNvPr id="32" name="Shape 29"/>
          <p:cNvSpPr/>
          <p:nvPr/>
        </p:nvSpPr>
        <p:spPr>
          <a:xfrm>
            <a:off x="731520" y="4297680"/>
            <a:ext cx="5212080" cy="475488"/>
          </a:xfrm>
          <a:prstGeom prst="roundRect">
            <a:avLst>
              <a:gd name="adj" fmla="val 15385"/>
            </a:avLst>
          </a:prstGeom>
          <a:solidFill>
            <a:srgbClr val="1E293B"/>
          </a:solidFill>
          <a:ln w="12700">
            <a:solidFill>
              <a:srgbClr val="334155"/>
            </a:solidFill>
            <a:prstDash val="solid"/>
          </a:ln>
        </p:spPr>
      </p:sp>
      <p:sp>
        <p:nvSpPr>
          <p:cNvPr id="33" name="Shape 30"/>
          <p:cNvSpPr/>
          <p:nvPr/>
        </p:nvSpPr>
        <p:spPr>
          <a:xfrm>
            <a:off x="731520" y="4297680"/>
            <a:ext cx="548640" cy="475488"/>
          </a:xfrm>
          <a:prstGeom prst="rect">
            <a:avLst/>
          </a:prstGeom>
          <a:solidFill>
            <a:srgbClr val="9333EA"/>
          </a:solidFill>
          <a:ln w="12700">
            <a:solidFill>
              <a:srgbClr val="9333EA"/>
            </a:solidFill>
            <a:prstDash val="solid"/>
          </a:ln>
        </p:spPr>
      </p:sp>
      <p:sp>
        <p:nvSpPr>
          <p:cNvPr id="34" name="Text 31"/>
          <p:cNvSpPr/>
          <p:nvPr/>
        </p:nvSpPr>
        <p:spPr>
          <a:xfrm>
            <a:off x="731520" y="4297680"/>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GM</a:t>
            </a:r>
            <a:endParaRPr lang="en-US" sz="1000" dirty="0"/>
          </a:p>
        </p:txBody>
      </p:sp>
      <p:sp>
        <p:nvSpPr>
          <p:cNvPr id="35" name="Text 32"/>
          <p:cNvSpPr/>
          <p:nvPr/>
        </p:nvSpPr>
        <p:spPr>
          <a:xfrm>
            <a:off x="1371600" y="4297680"/>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General Manager</a:t>
            </a:r>
            <a:endParaRPr lang="en-US" sz="1100" dirty="0"/>
          </a:p>
        </p:txBody>
      </p:sp>
      <p:sp>
        <p:nvSpPr>
          <p:cNvPr id="36" name="Text 33"/>
          <p:cNvSpPr/>
          <p:nvPr/>
        </p:nvSpPr>
        <p:spPr>
          <a:xfrm>
            <a:off x="4389120" y="4297680"/>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L6</a:t>
            </a:r>
            <a:endParaRPr lang="en-US" sz="900" dirty="0"/>
          </a:p>
        </p:txBody>
      </p:sp>
      <p:sp>
        <p:nvSpPr>
          <p:cNvPr id="37" name="Shape 34"/>
          <p:cNvSpPr/>
          <p:nvPr/>
        </p:nvSpPr>
        <p:spPr>
          <a:xfrm>
            <a:off x="731520" y="4864608"/>
            <a:ext cx="5212080" cy="475488"/>
          </a:xfrm>
          <a:prstGeom prst="roundRect">
            <a:avLst>
              <a:gd name="adj" fmla="val 15385"/>
            </a:avLst>
          </a:prstGeom>
          <a:solidFill>
            <a:srgbClr val="1E293B"/>
          </a:solidFill>
          <a:ln w="12700">
            <a:solidFill>
              <a:srgbClr val="334155"/>
            </a:solidFill>
            <a:prstDash val="solid"/>
          </a:ln>
        </p:spPr>
      </p:sp>
      <p:sp>
        <p:nvSpPr>
          <p:cNvPr id="38" name="Shape 35"/>
          <p:cNvSpPr/>
          <p:nvPr/>
        </p:nvSpPr>
        <p:spPr>
          <a:xfrm>
            <a:off x="731520" y="4864608"/>
            <a:ext cx="548640" cy="475488"/>
          </a:xfrm>
          <a:prstGeom prst="rect">
            <a:avLst/>
          </a:prstGeom>
          <a:solidFill>
            <a:srgbClr val="D97706"/>
          </a:solidFill>
          <a:ln w="12700">
            <a:solidFill>
              <a:srgbClr val="D97706"/>
            </a:solidFill>
            <a:prstDash val="solid"/>
          </a:ln>
        </p:spPr>
      </p:sp>
      <p:sp>
        <p:nvSpPr>
          <p:cNvPr id="39" name="Text 36"/>
          <p:cNvSpPr/>
          <p:nvPr/>
        </p:nvSpPr>
        <p:spPr>
          <a:xfrm>
            <a:off x="731520" y="4864608"/>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ED</a:t>
            </a:r>
            <a:endParaRPr lang="en-US" sz="1000" dirty="0"/>
          </a:p>
        </p:txBody>
      </p:sp>
      <p:sp>
        <p:nvSpPr>
          <p:cNvPr id="40" name="Text 37"/>
          <p:cNvSpPr/>
          <p:nvPr/>
        </p:nvSpPr>
        <p:spPr>
          <a:xfrm>
            <a:off x="1371600" y="4864608"/>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Executive Director</a:t>
            </a:r>
            <a:endParaRPr lang="en-US" sz="1100" dirty="0"/>
          </a:p>
        </p:txBody>
      </p:sp>
      <p:sp>
        <p:nvSpPr>
          <p:cNvPr id="41" name="Text 38"/>
          <p:cNvSpPr/>
          <p:nvPr/>
        </p:nvSpPr>
        <p:spPr>
          <a:xfrm>
            <a:off x="4389120" y="4864608"/>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L7</a:t>
            </a:r>
            <a:endParaRPr lang="en-US" sz="900" dirty="0"/>
          </a:p>
        </p:txBody>
      </p:sp>
      <p:sp>
        <p:nvSpPr>
          <p:cNvPr id="42" name="Shape 39"/>
          <p:cNvSpPr/>
          <p:nvPr/>
        </p:nvSpPr>
        <p:spPr>
          <a:xfrm>
            <a:off x="731520" y="5431536"/>
            <a:ext cx="5212080" cy="475488"/>
          </a:xfrm>
          <a:prstGeom prst="roundRect">
            <a:avLst>
              <a:gd name="adj" fmla="val 15385"/>
            </a:avLst>
          </a:prstGeom>
          <a:solidFill>
            <a:srgbClr val="1E293B"/>
          </a:solidFill>
          <a:ln w="12700">
            <a:solidFill>
              <a:srgbClr val="334155"/>
            </a:solidFill>
            <a:prstDash val="solid"/>
          </a:ln>
        </p:spPr>
      </p:sp>
      <p:sp>
        <p:nvSpPr>
          <p:cNvPr id="43" name="Shape 40"/>
          <p:cNvSpPr/>
          <p:nvPr/>
        </p:nvSpPr>
        <p:spPr>
          <a:xfrm>
            <a:off x="731520" y="5431536"/>
            <a:ext cx="548640" cy="475488"/>
          </a:xfrm>
          <a:prstGeom prst="rect">
            <a:avLst/>
          </a:prstGeom>
          <a:solidFill>
            <a:srgbClr val="DC2626"/>
          </a:solidFill>
          <a:ln w="12700">
            <a:solidFill>
              <a:srgbClr val="DC2626"/>
            </a:solidFill>
            <a:prstDash val="solid"/>
          </a:ln>
        </p:spPr>
      </p:sp>
      <p:sp>
        <p:nvSpPr>
          <p:cNvPr id="44" name="Text 41"/>
          <p:cNvSpPr/>
          <p:nvPr/>
        </p:nvSpPr>
        <p:spPr>
          <a:xfrm>
            <a:off x="731520" y="5431536"/>
            <a:ext cx="548640" cy="475488"/>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CED</a:t>
            </a:r>
            <a:endParaRPr lang="en-US" sz="1000" dirty="0"/>
          </a:p>
        </p:txBody>
      </p:sp>
      <p:sp>
        <p:nvSpPr>
          <p:cNvPr id="45" name="Text 42"/>
          <p:cNvSpPr/>
          <p:nvPr/>
        </p:nvSpPr>
        <p:spPr>
          <a:xfrm>
            <a:off x="1371600" y="5431536"/>
            <a:ext cx="292608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Chief Executive Director</a:t>
            </a:r>
            <a:endParaRPr lang="en-US" sz="1100" dirty="0"/>
          </a:p>
        </p:txBody>
      </p:sp>
      <p:sp>
        <p:nvSpPr>
          <p:cNvPr id="46" name="Text 43"/>
          <p:cNvSpPr/>
          <p:nvPr/>
        </p:nvSpPr>
        <p:spPr>
          <a:xfrm>
            <a:off x="4389120" y="5431536"/>
            <a:ext cx="1463040" cy="475488"/>
          </a:xfrm>
          <a:prstGeom prst="rect">
            <a:avLst/>
          </a:prstGeom>
          <a:noFill/>
          <a:ln/>
        </p:spPr>
        <p:txBody>
          <a:bodyPr wrap="square" rtlCol="0" anchor="ctr"/>
          <a:lstStyle/>
          <a:p>
            <a:pPr algn="r" indent="0" marL="0">
              <a:buNone/>
            </a:pPr>
            <a:r>
              <a:rPr lang="en-US" sz="900" dirty="0">
                <a:solidFill>
                  <a:srgbClr val="94A3B8"/>
                </a:solidFill>
                <a:latin typeface="Segoe UI" pitchFamily="34" charset="0"/>
                <a:ea typeface="Segoe UI" pitchFamily="34" charset="-122"/>
                <a:cs typeface="Segoe UI" pitchFamily="34" charset="-120"/>
              </a:rPr>
              <a:t>L8 (Confidential)</a:t>
            </a:r>
            <a:endParaRPr lang="en-US" sz="900" dirty="0"/>
          </a:p>
        </p:txBody>
      </p:sp>
      <p:sp>
        <p:nvSpPr>
          <p:cNvPr id="47" name="Shape 44"/>
          <p:cNvSpPr/>
          <p:nvPr/>
        </p:nvSpPr>
        <p:spPr>
          <a:xfrm>
            <a:off x="6217920" y="1463040"/>
            <a:ext cx="5212080" cy="4572000"/>
          </a:xfrm>
          <a:prstGeom prst="roundRect">
            <a:avLst>
              <a:gd name="adj" fmla="val 3000"/>
            </a:avLst>
          </a:prstGeom>
          <a:solidFill>
            <a:srgbClr val="1C2541"/>
          </a:solidFill>
          <a:ln w="19050">
            <a:solidFill>
              <a:srgbClr val="8B5CF6"/>
            </a:solidFill>
            <a:prstDash val="solid"/>
          </a:ln>
        </p:spPr>
      </p:sp>
      <p:sp>
        <p:nvSpPr>
          <p:cNvPr id="48" name="Text 45"/>
          <p:cNvSpPr/>
          <p:nvPr/>
        </p:nvSpPr>
        <p:spPr>
          <a:xfrm>
            <a:off x="6583680" y="1737360"/>
            <a:ext cx="4480560" cy="274320"/>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DOWNLINE &amp; TREE TRACKING</a:t>
            </a:r>
            <a:endParaRPr lang="en-US" sz="1100" dirty="0"/>
          </a:p>
        </p:txBody>
      </p:sp>
      <p:sp>
        <p:nvSpPr>
          <p:cNvPr id="49" name="Text 46"/>
          <p:cNvSpPr/>
          <p:nvPr/>
        </p:nvSpPr>
        <p:spPr>
          <a:xfrm>
            <a:off x="65836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Real-Time Downline Visualization</a:t>
            </a:r>
            <a:endParaRPr lang="en-US" sz="1800" dirty="0"/>
          </a:p>
        </p:txBody>
      </p:sp>
      <p:sp>
        <p:nvSpPr>
          <p:cNvPr id="50" name="Text 47"/>
          <p:cNvSpPr/>
          <p:nvPr/>
        </p:nvSpPr>
        <p:spPr>
          <a:xfrm>
            <a:off x="6583680" y="2560320"/>
            <a:ext cx="4480560" cy="3200400"/>
          </a:xfrm>
          <a:prstGeom prst="rect">
            <a:avLst/>
          </a:prstGeom>
          <a:noFill/>
          <a:ln/>
        </p:spPr>
        <p:txBody>
          <a:bodyPr wrap="square" rtlCol="0" anchor="ctr"/>
          <a:lstStyle/>
          <a:p>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Full Recursive Downline Explorer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View the entire reporting chain under any ED or GM in a responsive interactive tree.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Cycle-Loop Prevention Engine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Built-in graph validator prohibits circular reporting (e.g., A reports to B who reports to A).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Chain-of-Command Metadata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Tracks ME, MM, SMM, AGM, DGM, and GM upline assignments automatically.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Instant Reassignment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Update reporting managers seamlessly when leaders move or expand teams.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FIELD EXPERIENCE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1: Paperless Self-Enrollment &amp; Onboarding</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2560320" cy="4480560"/>
          </a:xfrm>
          <a:prstGeom prst="roundRect">
            <a:avLst>
              <a:gd name="adj" fmla="val 4286"/>
            </a:avLst>
          </a:prstGeom>
          <a:solidFill>
            <a:srgbClr val="1E293B"/>
          </a:solidFill>
          <a:ln w="12700">
            <a:solidFill>
              <a:srgbClr val="334155"/>
            </a:solidFill>
            <a:prstDash val="solid"/>
          </a:ln>
        </p:spPr>
      </p:sp>
      <p:sp>
        <p:nvSpPr>
          <p:cNvPr id="8" name="Shape 5"/>
          <p:cNvSpPr/>
          <p:nvPr/>
        </p:nvSpPr>
        <p:spPr>
          <a:xfrm>
            <a:off x="914400" y="1737360"/>
            <a:ext cx="914400" cy="320040"/>
          </a:xfrm>
          <a:prstGeom prst="roundRect">
            <a:avLst>
              <a:gd name="adj" fmla="val 22857"/>
            </a:avLst>
          </a:prstGeom>
          <a:solidFill>
            <a:srgbClr val="1E3A8A"/>
          </a:solidFill>
          <a:ln w="12700">
            <a:solidFill>
              <a:srgbClr val="3B82F6"/>
            </a:solidFill>
            <a:prstDash val="solid"/>
          </a:ln>
        </p:spPr>
      </p:sp>
      <p:sp>
        <p:nvSpPr>
          <p:cNvPr id="9" name="Text 6"/>
          <p:cNvSpPr/>
          <p:nvPr/>
        </p:nvSpPr>
        <p:spPr>
          <a:xfrm>
            <a:off x="914400" y="1737360"/>
            <a:ext cx="914400" cy="320040"/>
          </a:xfrm>
          <a:prstGeom prst="rect">
            <a:avLst/>
          </a:prstGeom>
          <a:noFill/>
          <a:ln/>
        </p:spPr>
        <p:txBody>
          <a:bodyPr wrap="square" rtlCol="0" anchor="ctr"/>
          <a:lstStyle/>
          <a:p>
            <a:pPr algn="ctr" indent="0" marL="0">
              <a:buNone/>
            </a:pPr>
            <a:r>
              <a:rPr lang="en-US" sz="900" b="1" dirty="0">
                <a:solidFill>
                  <a:srgbClr val="3B82F6"/>
                </a:solidFill>
                <a:latin typeface="Segoe UI" pitchFamily="34" charset="0"/>
                <a:ea typeface="Segoe UI" pitchFamily="34" charset="-122"/>
                <a:cs typeface="Segoe UI" pitchFamily="34" charset="-120"/>
              </a:rPr>
              <a:t>STEP 1</a:t>
            </a:r>
            <a:endParaRPr lang="en-US" sz="900" dirty="0"/>
          </a:p>
        </p:txBody>
      </p:sp>
      <p:sp>
        <p:nvSpPr>
          <p:cNvPr id="10" name="Text 7"/>
          <p:cNvSpPr/>
          <p:nvPr/>
        </p:nvSpPr>
        <p:spPr>
          <a:xfrm>
            <a:off x="914400" y="2194560"/>
            <a:ext cx="219456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Personal &amp; Family Data</a:t>
            </a:r>
            <a:endParaRPr lang="en-US" sz="1400" dirty="0"/>
          </a:p>
        </p:txBody>
      </p:sp>
      <p:sp>
        <p:nvSpPr>
          <p:cNvPr id="11" name="Text 8"/>
          <p:cNvSpPr/>
          <p:nvPr/>
        </p:nvSpPr>
        <p:spPr>
          <a:xfrm>
            <a:off x="914400" y="2926080"/>
            <a:ext cx="2194560" cy="2834640"/>
          </a:xfrm>
          <a:prstGeom prst="rect">
            <a:avLst/>
          </a:prstGeom>
          <a:noFill/>
          <a:ln/>
        </p:spPr>
        <p:txBody>
          <a:bodyPr wrap="square" rtlCol="0" anchor="ctr"/>
          <a:lstStyle/>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Full Name &amp; DOB</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Automatic age calculation</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Father/Husband name</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Mobile &amp; WhatsApp sync</a:t>
            </a:r>
            <a:endParaRPr lang="en-US" sz="1100" dirty="0"/>
          </a:p>
        </p:txBody>
      </p:sp>
      <p:sp>
        <p:nvSpPr>
          <p:cNvPr id="12" name="Shape 9"/>
          <p:cNvSpPr/>
          <p:nvPr/>
        </p:nvSpPr>
        <p:spPr>
          <a:xfrm>
            <a:off x="3474720" y="1463040"/>
            <a:ext cx="2560320" cy="4480560"/>
          </a:xfrm>
          <a:prstGeom prst="roundRect">
            <a:avLst>
              <a:gd name="adj" fmla="val 4286"/>
            </a:avLst>
          </a:prstGeom>
          <a:solidFill>
            <a:srgbClr val="1E293B"/>
          </a:solidFill>
          <a:ln w="12700">
            <a:solidFill>
              <a:srgbClr val="334155"/>
            </a:solidFill>
            <a:prstDash val="solid"/>
          </a:ln>
        </p:spPr>
      </p:sp>
      <p:sp>
        <p:nvSpPr>
          <p:cNvPr id="13" name="Shape 10"/>
          <p:cNvSpPr/>
          <p:nvPr/>
        </p:nvSpPr>
        <p:spPr>
          <a:xfrm>
            <a:off x="3657600" y="1737360"/>
            <a:ext cx="914400" cy="320040"/>
          </a:xfrm>
          <a:prstGeom prst="roundRect">
            <a:avLst>
              <a:gd name="adj" fmla="val 22857"/>
            </a:avLst>
          </a:prstGeom>
          <a:solidFill>
            <a:srgbClr val="1E3A8A"/>
          </a:solidFill>
          <a:ln w="12700">
            <a:solidFill>
              <a:srgbClr val="3B82F6"/>
            </a:solidFill>
            <a:prstDash val="solid"/>
          </a:ln>
        </p:spPr>
      </p:sp>
      <p:sp>
        <p:nvSpPr>
          <p:cNvPr id="14" name="Text 11"/>
          <p:cNvSpPr/>
          <p:nvPr/>
        </p:nvSpPr>
        <p:spPr>
          <a:xfrm>
            <a:off x="3657600" y="1737360"/>
            <a:ext cx="914400" cy="320040"/>
          </a:xfrm>
          <a:prstGeom prst="rect">
            <a:avLst/>
          </a:prstGeom>
          <a:noFill/>
          <a:ln/>
        </p:spPr>
        <p:txBody>
          <a:bodyPr wrap="square" rtlCol="0" anchor="ctr"/>
          <a:lstStyle/>
          <a:p>
            <a:pPr algn="ctr" indent="0" marL="0">
              <a:buNone/>
            </a:pPr>
            <a:r>
              <a:rPr lang="en-US" sz="900" b="1" dirty="0">
                <a:solidFill>
                  <a:srgbClr val="3B82F6"/>
                </a:solidFill>
                <a:latin typeface="Segoe UI" pitchFamily="34" charset="0"/>
                <a:ea typeface="Segoe UI" pitchFamily="34" charset="-122"/>
                <a:cs typeface="Segoe UI" pitchFamily="34" charset="-120"/>
              </a:rPr>
              <a:t>STEP 2</a:t>
            </a:r>
            <a:endParaRPr lang="en-US" sz="900" dirty="0"/>
          </a:p>
        </p:txBody>
      </p:sp>
      <p:sp>
        <p:nvSpPr>
          <p:cNvPr id="15" name="Text 12"/>
          <p:cNvSpPr/>
          <p:nvPr/>
        </p:nvSpPr>
        <p:spPr>
          <a:xfrm>
            <a:off x="3657600" y="2194560"/>
            <a:ext cx="219456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Geographic Address</a:t>
            </a:r>
            <a:endParaRPr lang="en-US" sz="1400" dirty="0"/>
          </a:p>
        </p:txBody>
      </p:sp>
      <p:sp>
        <p:nvSpPr>
          <p:cNvPr id="16" name="Text 13"/>
          <p:cNvSpPr/>
          <p:nvPr/>
        </p:nvSpPr>
        <p:spPr>
          <a:xfrm>
            <a:off x="3657600" y="2926080"/>
            <a:ext cx="2194560" cy="2834640"/>
          </a:xfrm>
          <a:prstGeom prst="rect">
            <a:avLst/>
          </a:prstGeom>
          <a:noFill/>
          <a:ln/>
        </p:spPr>
        <p:txBody>
          <a:bodyPr wrap="square" rtlCol="0" anchor="ctr"/>
          <a:lstStyle/>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House No. &amp; Street</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Village / City &amp; Mandal</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District &amp; State mapping</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Pincode postal validation</a:t>
            </a:r>
            <a:endParaRPr lang="en-US" sz="1100" dirty="0"/>
          </a:p>
        </p:txBody>
      </p:sp>
      <p:sp>
        <p:nvSpPr>
          <p:cNvPr id="17" name="Shape 14"/>
          <p:cNvSpPr/>
          <p:nvPr/>
        </p:nvSpPr>
        <p:spPr>
          <a:xfrm>
            <a:off x="6217920" y="1463040"/>
            <a:ext cx="2560320" cy="4480560"/>
          </a:xfrm>
          <a:prstGeom prst="roundRect">
            <a:avLst>
              <a:gd name="adj" fmla="val 4286"/>
            </a:avLst>
          </a:prstGeom>
          <a:solidFill>
            <a:srgbClr val="1E293B"/>
          </a:solidFill>
          <a:ln w="12700">
            <a:solidFill>
              <a:srgbClr val="334155"/>
            </a:solidFill>
            <a:prstDash val="solid"/>
          </a:ln>
        </p:spPr>
      </p:sp>
      <p:sp>
        <p:nvSpPr>
          <p:cNvPr id="18" name="Shape 15"/>
          <p:cNvSpPr/>
          <p:nvPr/>
        </p:nvSpPr>
        <p:spPr>
          <a:xfrm>
            <a:off x="6400800" y="1737360"/>
            <a:ext cx="914400" cy="320040"/>
          </a:xfrm>
          <a:prstGeom prst="roundRect">
            <a:avLst>
              <a:gd name="adj" fmla="val 22857"/>
            </a:avLst>
          </a:prstGeom>
          <a:solidFill>
            <a:srgbClr val="1E3A8A"/>
          </a:solidFill>
          <a:ln w="12700">
            <a:solidFill>
              <a:srgbClr val="3B82F6"/>
            </a:solidFill>
            <a:prstDash val="solid"/>
          </a:ln>
        </p:spPr>
      </p:sp>
      <p:sp>
        <p:nvSpPr>
          <p:cNvPr id="19" name="Text 16"/>
          <p:cNvSpPr/>
          <p:nvPr/>
        </p:nvSpPr>
        <p:spPr>
          <a:xfrm>
            <a:off x="6400800" y="1737360"/>
            <a:ext cx="914400" cy="320040"/>
          </a:xfrm>
          <a:prstGeom prst="rect">
            <a:avLst/>
          </a:prstGeom>
          <a:noFill/>
          <a:ln/>
        </p:spPr>
        <p:txBody>
          <a:bodyPr wrap="square" rtlCol="0" anchor="ctr"/>
          <a:lstStyle/>
          <a:p>
            <a:pPr algn="ctr" indent="0" marL="0">
              <a:buNone/>
            </a:pPr>
            <a:r>
              <a:rPr lang="en-US" sz="900" b="1" dirty="0">
                <a:solidFill>
                  <a:srgbClr val="3B82F6"/>
                </a:solidFill>
                <a:latin typeface="Segoe UI" pitchFamily="34" charset="0"/>
                <a:ea typeface="Segoe UI" pitchFamily="34" charset="-122"/>
                <a:cs typeface="Segoe UI" pitchFamily="34" charset="-120"/>
              </a:rPr>
              <a:t>STEP 3</a:t>
            </a:r>
            <a:endParaRPr lang="en-US" sz="900" dirty="0"/>
          </a:p>
        </p:txBody>
      </p:sp>
      <p:sp>
        <p:nvSpPr>
          <p:cNvPr id="20" name="Text 17"/>
          <p:cNvSpPr/>
          <p:nvPr/>
        </p:nvSpPr>
        <p:spPr>
          <a:xfrm>
            <a:off x="6400800" y="2194560"/>
            <a:ext cx="219456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Cadre &amp; Reporting Chain</a:t>
            </a:r>
            <a:endParaRPr lang="en-US" sz="1400" dirty="0"/>
          </a:p>
        </p:txBody>
      </p:sp>
      <p:sp>
        <p:nvSpPr>
          <p:cNvPr id="21" name="Text 18"/>
          <p:cNvSpPr/>
          <p:nvPr/>
        </p:nvSpPr>
        <p:spPr>
          <a:xfrm>
            <a:off x="6400800" y="2926080"/>
            <a:ext cx="2194560" cy="2834640"/>
          </a:xfrm>
          <a:prstGeom prst="rect">
            <a:avLst/>
          </a:prstGeom>
          <a:noFill/>
          <a:ln/>
        </p:spPr>
        <p:txBody>
          <a:bodyPr wrap="square" rtlCol="0" anchor="ctr"/>
          <a:lstStyle/>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Select applied rank (ME/MM)</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Designated sales team</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Select reporting manager</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Automatic upline hierarchy linking</a:t>
            </a:r>
            <a:endParaRPr lang="en-US" sz="1100" dirty="0"/>
          </a:p>
        </p:txBody>
      </p:sp>
      <p:sp>
        <p:nvSpPr>
          <p:cNvPr id="22" name="Shape 19"/>
          <p:cNvSpPr/>
          <p:nvPr/>
        </p:nvSpPr>
        <p:spPr>
          <a:xfrm>
            <a:off x="8961120" y="1463040"/>
            <a:ext cx="2560320" cy="4480560"/>
          </a:xfrm>
          <a:prstGeom prst="roundRect">
            <a:avLst>
              <a:gd name="adj" fmla="val 4286"/>
            </a:avLst>
          </a:prstGeom>
          <a:solidFill>
            <a:srgbClr val="1E293B"/>
          </a:solidFill>
          <a:ln w="12700">
            <a:solidFill>
              <a:srgbClr val="334155"/>
            </a:solidFill>
            <a:prstDash val="solid"/>
          </a:ln>
        </p:spPr>
      </p:sp>
      <p:sp>
        <p:nvSpPr>
          <p:cNvPr id="23" name="Shape 20"/>
          <p:cNvSpPr/>
          <p:nvPr/>
        </p:nvSpPr>
        <p:spPr>
          <a:xfrm>
            <a:off x="9144000" y="1737360"/>
            <a:ext cx="914400" cy="320040"/>
          </a:xfrm>
          <a:prstGeom prst="roundRect">
            <a:avLst>
              <a:gd name="adj" fmla="val 22857"/>
            </a:avLst>
          </a:prstGeom>
          <a:solidFill>
            <a:srgbClr val="1E3A8A"/>
          </a:solidFill>
          <a:ln w="12700">
            <a:solidFill>
              <a:srgbClr val="3B82F6"/>
            </a:solidFill>
            <a:prstDash val="solid"/>
          </a:ln>
        </p:spPr>
      </p:sp>
      <p:sp>
        <p:nvSpPr>
          <p:cNvPr id="24" name="Text 21"/>
          <p:cNvSpPr/>
          <p:nvPr/>
        </p:nvSpPr>
        <p:spPr>
          <a:xfrm>
            <a:off x="9144000" y="1737360"/>
            <a:ext cx="914400" cy="320040"/>
          </a:xfrm>
          <a:prstGeom prst="rect">
            <a:avLst/>
          </a:prstGeom>
          <a:noFill/>
          <a:ln/>
        </p:spPr>
        <p:txBody>
          <a:bodyPr wrap="square" rtlCol="0" anchor="ctr"/>
          <a:lstStyle/>
          <a:p>
            <a:pPr algn="ctr" indent="0" marL="0">
              <a:buNone/>
            </a:pPr>
            <a:r>
              <a:rPr lang="en-US" sz="900" b="1" dirty="0">
                <a:solidFill>
                  <a:srgbClr val="3B82F6"/>
                </a:solidFill>
                <a:latin typeface="Segoe UI" pitchFamily="34" charset="0"/>
                <a:ea typeface="Segoe UI" pitchFamily="34" charset="-122"/>
                <a:cs typeface="Segoe UI" pitchFamily="34" charset="-120"/>
              </a:rPr>
              <a:t>STEP 4</a:t>
            </a:r>
            <a:endParaRPr lang="en-US" sz="900" dirty="0"/>
          </a:p>
        </p:txBody>
      </p:sp>
      <p:sp>
        <p:nvSpPr>
          <p:cNvPr id="25" name="Text 22"/>
          <p:cNvSpPr/>
          <p:nvPr/>
        </p:nvSpPr>
        <p:spPr>
          <a:xfrm>
            <a:off x="9144000" y="2194560"/>
            <a:ext cx="2194560" cy="6400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Instant KYC Document Upload</a:t>
            </a:r>
            <a:endParaRPr lang="en-US" sz="1400" dirty="0"/>
          </a:p>
        </p:txBody>
      </p:sp>
      <p:sp>
        <p:nvSpPr>
          <p:cNvPr id="26" name="Text 23"/>
          <p:cNvSpPr/>
          <p:nvPr/>
        </p:nvSpPr>
        <p:spPr>
          <a:xfrm>
            <a:off x="9144000" y="2926080"/>
            <a:ext cx="2194560" cy="2834640"/>
          </a:xfrm>
          <a:prstGeom prst="rect">
            <a:avLst/>
          </a:prstGeom>
          <a:noFill/>
          <a:ln/>
        </p:spPr>
        <p:txBody>
          <a:bodyPr wrap="square" rtlCol="0" anchor="ctr"/>
          <a:lstStyle/>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Mandatory Aadhaar Front PDF</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Mandatory Aadhaar Back PDF</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Mandatory PAN Card PDF</a:t>
            </a:r>
            <a:endParaRPr lang="en-US" sz="1100" dirty="0"/>
          </a:p>
          <a:p>
            <a:pPr indent="0" marL="0">
              <a:lnSpc>
                <a:spcPts val="1400"/>
              </a:lnSpc>
              <a:buNone/>
            </a:pPr>
            <a:endParaRPr lang="en-US" sz="1100" dirty="0"/>
          </a:p>
          <a:p>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Applicant passport photo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COMPLIANCE &amp; REVIEW</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2: Split-Screen KYC Review Engine</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10698480" cy="3749040"/>
          </a:xfrm>
          <a:prstGeom prst="roundRect">
            <a:avLst>
              <a:gd name="adj" fmla="val 3659"/>
            </a:avLst>
          </a:prstGeom>
          <a:solidFill>
            <a:srgbClr val="0A1120"/>
          </a:solidFill>
          <a:ln w="12700">
            <a:solidFill>
              <a:srgbClr val="334155"/>
            </a:solidFill>
            <a:prstDash val="solid"/>
          </a:ln>
        </p:spPr>
      </p:sp>
      <p:sp>
        <p:nvSpPr>
          <p:cNvPr id="8" name="Shape 5"/>
          <p:cNvSpPr/>
          <p:nvPr/>
        </p:nvSpPr>
        <p:spPr>
          <a:xfrm>
            <a:off x="1005840" y="1737360"/>
            <a:ext cx="4937760" cy="3200400"/>
          </a:xfrm>
          <a:prstGeom prst="roundRect">
            <a:avLst>
              <a:gd name="adj" fmla="val 2857"/>
            </a:avLst>
          </a:prstGeom>
          <a:solidFill>
            <a:srgbClr val="1E293B"/>
          </a:solidFill>
          <a:ln w="12700">
            <a:solidFill>
              <a:srgbClr val="334155"/>
            </a:solidFill>
            <a:prstDash val="solid"/>
          </a:ln>
        </p:spPr>
      </p:sp>
      <p:sp>
        <p:nvSpPr>
          <p:cNvPr id="9" name="Text 6"/>
          <p:cNvSpPr/>
          <p:nvPr/>
        </p:nvSpPr>
        <p:spPr>
          <a:xfrm>
            <a:off x="1188720" y="1920240"/>
            <a:ext cx="457200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LEFT PANE: APPLICANT METADATA</a:t>
            </a:r>
            <a:endParaRPr lang="en-US" sz="1000" dirty="0"/>
          </a:p>
        </p:txBody>
      </p:sp>
      <p:sp>
        <p:nvSpPr>
          <p:cNvPr id="10" name="Text 7"/>
          <p:cNvSpPr/>
          <p:nvPr/>
        </p:nvSpPr>
        <p:spPr>
          <a:xfrm>
            <a:off x="1188720" y="2286000"/>
            <a:ext cx="4572000" cy="2468880"/>
          </a:xfrm>
          <a:prstGeom prst="rect">
            <a:avLst/>
          </a:prstGeom>
          <a:noFill/>
          <a:ln/>
        </p:spPr>
        <p:txBody>
          <a:bodyPr wrap="square" rtlCol="0" anchor="ctr"/>
          <a:lstStyle/>
          <a:p>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Applicant Name: </a:t>
            </a:r>
            <a:pPr indent="0" marL="0">
              <a:lnSpc>
                <a:spcPts val="1400"/>
              </a:lnSpc>
              <a:buNone/>
            </a:pPr>
            <a:r>
              <a:rPr lang="en-US" sz="1100" dirty="0">
                <a:solidFill>
                  <a:srgbClr val="F59E0B"/>
                </a:solidFill>
                <a:latin typeface="Segoe UI" pitchFamily="34" charset="0"/>
                <a:ea typeface="Segoe UI" pitchFamily="34" charset="-122"/>
                <a:cs typeface="Segoe UI" pitchFamily="34" charset="-120"/>
              </a:rPr>
              <a:t>Rajesh Kumar Verma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Applied Cadre: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Marketing Executive (ME)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Mobile / WhatsApp: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+91 98765 43210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Reporting Leader: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K. Venkatesh (GM - Hyderabad South)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Address: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Plot 42, Hitech City, R.R. District, Telangana
</a:t>
            </a:r>
            <a:endParaRPr lang="en-US" sz="1100" dirty="0"/>
          </a:p>
        </p:txBody>
      </p:sp>
      <p:sp>
        <p:nvSpPr>
          <p:cNvPr id="11" name="Shape 8"/>
          <p:cNvSpPr/>
          <p:nvPr/>
        </p:nvSpPr>
        <p:spPr>
          <a:xfrm>
            <a:off x="6217920" y="1737360"/>
            <a:ext cx="4937760" cy="3200400"/>
          </a:xfrm>
          <a:prstGeom prst="roundRect">
            <a:avLst>
              <a:gd name="adj" fmla="val 2857"/>
            </a:avLst>
          </a:prstGeom>
          <a:solidFill>
            <a:srgbClr val="141E33"/>
          </a:solidFill>
          <a:ln w="12700">
            <a:solidFill>
              <a:srgbClr val="10B981"/>
            </a:solidFill>
            <a:prstDash val="solid"/>
          </a:ln>
        </p:spPr>
      </p:sp>
      <p:sp>
        <p:nvSpPr>
          <p:cNvPr id="12" name="Text 9"/>
          <p:cNvSpPr/>
          <p:nvPr/>
        </p:nvSpPr>
        <p:spPr>
          <a:xfrm>
            <a:off x="6400800" y="1920240"/>
            <a:ext cx="4572000" cy="274320"/>
          </a:xfrm>
          <a:prstGeom prst="rect">
            <a:avLst/>
          </a:prstGeom>
          <a:noFill/>
          <a:ln/>
        </p:spPr>
        <p:txBody>
          <a:bodyPr wrap="square" rtlCol="0" anchor="ctr"/>
          <a:lstStyle/>
          <a:p>
            <a:pPr indent="0" marL="0">
              <a:buNone/>
            </a:pPr>
            <a:r>
              <a:rPr lang="en-US" sz="1000" b="1" dirty="0">
                <a:solidFill>
                  <a:srgbClr val="10B981"/>
                </a:solidFill>
                <a:latin typeface="Segoe UI" pitchFamily="34" charset="0"/>
                <a:ea typeface="Segoe UI" pitchFamily="34" charset="-122"/>
                <a:cs typeface="Segoe UI" pitchFamily="34" charset="-120"/>
              </a:rPr>
              <a:t>RIGHT PANE: LIVE IN-BROWSER PDF VIEWER</a:t>
            </a:r>
            <a:endParaRPr lang="en-US" sz="1000" dirty="0"/>
          </a:p>
        </p:txBody>
      </p:sp>
      <p:sp>
        <p:nvSpPr>
          <p:cNvPr id="13" name="Text 10"/>
          <p:cNvSpPr/>
          <p:nvPr/>
        </p:nvSpPr>
        <p:spPr>
          <a:xfrm>
            <a:off x="6400800" y="2286000"/>
            <a:ext cx="4572000" cy="2468880"/>
          </a:xfrm>
          <a:prstGeom prst="rect">
            <a:avLst/>
          </a:prstGeom>
          <a:noFill/>
          <a:ln/>
        </p:spPr>
        <p:txBody>
          <a:bodyPr wrap="square" rtlCol="0" anchor="ctr"/>
          <a:lstStyle/>
          <a:p>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Aadhaar Front PDF — Verified (DOB &amp; Name match)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Aadhaar Back PDF — Verified (Address match)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PAN Card PDF — Verified (Tax ID hash unique)
</a:t>
            </a:r>
            <a:pPr indent="0" marL="0">
              <a:lnSpc>
                <a:spcPts val="1400"/>
              </a:lnSpc>
              <a:buNone/>
            </a:pPr>
            <a:r>
              <a:rPr lang="en-US" sz="1100" b="1" dirty="0">
                <a:solidFill>
                  <a:srgbClr val="F59E0B"/>
                </a:solidFill>
                <a:latin typeface="Segoe UI" pitchFamily="34" charset="0"/>
                <a:ea typeface="Segoe UI" pitchFamily="34" charset="-122"/>
                <a:cs typeface="Segoe UI" pitchFamily="34" charset="-120"/>
              </a:rPr>
              <a:t>Zero Client File Downloads: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Documents are streamed securely via authenticated APIs. No sensitive citizen PII is ever leaked to admin desktop folders.</a:t>
            </a:r>
            <a:endParaRPr lang="en-US" sz="1100" dirty="0"/>
          </a:p>
        </p:txBody>
      </p:sp>
      <p:sp>
        <p:nvSpPr>
          <p:cNvPr id="14" name="Shape 11"/>
          <p:cNvSpPr/>
          <p:nvPr/>
        </p:nvSpPr>
        <p:spPr>
          <a:xfrm>
            <a:off x="731520" y="5394960"/>
            <a:ext cx="3383280" cy="731520"/>
          </a:xfrm>
          <a:prstGeom prst="roundRect">
            <a:avLst>
              <a:gd name="adj" fmla="val 12500"/>
            </a:avLst>
          </a:prstGeom>
          <a:solidFill>
            <a:srgbClr val="064E3B"/>
          </a:solidFill>
          <a:ln w="12700">
            <a:solidFill>
              <a:srgbClr val="10B981"/>
            </a:solidFill>
            <a:prstDash val="solid"/>
          </a:ln>
        </p:spPr>
      </p:sp>
      <p:sp>
        <p:nvSpPr>
          <p:cNvPr id="15" name="Text 12"/>
          <p:cNvSpPr/>
          <p:nvPr/>
        </p:nvSpPr>
        <p:spPr>
          <a:xfrm>
            <a:off x="731520" y="5394960"/>
            <a:ext cx="3383280" cy="731520"/>
          </a:xfrm>
          <a:prstGeom prst="rect">
            <a:avLst/>
          </a:prstGeom>
          <a:noFill/>
          <a:ln/>
        </p:spPr>
        <p:txBody>
          <a:bodyPr wrap="square" rtlCol="0" anchor="ctr"/>
          <a:lstStyle/>
          <a:p>
            <a:pPr algn="ctr" indent="0" marL="0">
              <a:buNone/>
            </a:pPr>
            <a:r>
              <a:rPr lang="en-US" sz="1000" b="1" dirty="0">
                <a:solidFill>
                  <a:srgbClr val="10B981"/>
                </a:solidFill>
                <a:latin typeface="Segoe UI" pitchFamily="34" charset="0"/>
                <a:ea typeface="Segoe UI" pitchFamily="34" charset="-122"/>
                <a:cs typeface="Segoe UI" pitchFamily="34" charset="-120"/>
              </a:rPr>
              <a:t>✓ APPROVE &amp; GENERATE ID CARD</a:t>
            </a:r>
            <a:endParaRPr lang="en-US" sz="1000" dirty="0"/>
          </a:p>
        </p:txBody>
      </p:sp>
      <p:sp>
        <p:nvSpPr>
          <p:cNvPr id="16" name="Shape 13"/>
          <p:cNvSpPr/>
          <p:nvPr/>
        </p:nvSpPr>
        <p:spPr>
          <a:xfrm>
            <a:off x="4389120" y="5394960"/>
            <a:ext cx="3383280" cy="731520"/>
          </a:xfrm>
          <a:prstGeom prst="roundRect">
            <a:avLst>
              <a:gd name="adj" fmla="val 12500"/>
            </a:avLst>
          </a:prstGeom>
          <a:solidFill>
            <a:srgbClr val="451A03"/>
          </a:solidFill>
          <a:ln w="12700">
            <a:solidFill>
              <a:srgbClr val="F59E0B"/>
            </a:solidFill>
            <a:prstDash val="solid"/>
          </a:ln>
        </p:spPr>
      </p:sp>
      <p:sp>
        <p:nvSpPr>
          <p:cNvPr id="17" name="Text 14"/>
          <p:cNvSpPr/>
          <p:nvPr/>
        </p:nvSpPr>
        <p:spPr>
          <a:xfrm>
            <a:off x="4389120" y="5394960"/>
            <a:ext cx="3383280" cy="731520"/>
          </a:xfrm>
          <a:prstGeom prst="rect">
            <a:avLst/>
          </a:prstGeom>
          <a:noFill/>
          <a:ln/>
        </p:spPr>
        <p:txBody>
          <a:bodyPr wrap="square" rtlCol="0" anchor="ctr"/>
          <a:lstStyle/>
          <a:p>
            <a:pPr algn="ctr" indent="0" marL="0">
              <a:buNone/>
            </a:pPr>
            <a:r>
              <a:rPr lang="en-US" sz="1000" b="1" dirty="0">
                <a:solidFill>
                  <a:srgbClr val="F59E0B"/>
                </a:solidFill>
                <a:latin typeface="Segoe UI" pitchFamily="34" charset="0"/>
                <a:ea typeface="Segoe UI" pitchFamily="34" charset="-122"/>
                <a:cs typeface="Segoe UI" pitchFamily="34" charset="-120"/>
              </a:rPr>
              <a:t>⚠️ REQUEST CORRECTION (SPECIFIC NOTE)</a:t>
            </a:r>
            <a:endParaRPr lang="en-US" sz="1000" dirty="0"/>
          </a:p>
        </p:txBody>
      </p:sp>
      <p:sp>
        <p:nvSpPr>
          <p:cNvPr id="18" name="Shape 15"/>
          <p:cNvSpPr/>
          <p:nvPr/>
        </p:nvSpPr>
        <p:spPr>
          <a:xfrm>
            <a:off x="8046720" y="5394960"/>
            <a:ext cx="3383280" cy="731520"/>
          </a:xfrm>
          <a:prstGeom prst="roundRect">
            <a:avLst>
              <a:gd name="adj" fmla="val 12500"/>
            </a:avLst>
          </a:prstGeom>
          <a:solidFill>
            <a:srgbClr val="450A0A"/>
          </a:solidFill>
          <a:ln w="12700">
            <a:solidFill>
              <a:srgbClr val="EF4444"/>
            </a:solidFill>
            <a:prstDash val="solid"/>
          </a:ln>
        </p:spPr>
      </p:sp>
      <p:sp>
        <p:nvSpPr>
          <p:cNvPr id="19" name="Text 16"/>
          <p:cNvSpPr/>
          <p:nvPr/>
        </p:nvSpPr>
        <p:spPr>
          <a:xfrm>
            <a:off x="8046720" y="5394960"/>
            <a:ext cx="3383280" cy="731520"/>
          </a:xfrm>
          <a:prstGeom prst="rect">
            <a:avLst/>
          </a:prstGeom>
          <a:noFill/>
          <a:ln/>
        </p:spPr>
        <p:txBody>
          <a:bodyPr wrap="square" rtlCol="0" anchor="ctr"/>
          <a:lstStyle/>
          <a:p>
            <a:pPr algn="ctr" indent="0" marL="0">
              <a:buNone/>
            </a:pPr>
            <a:r>
              <a:rPr lang="en-US" sz="1000" b="1" dirty="0">
                <a:solidFill>
                  <a:srgbClr val="EF4444"/>
                </a:solidFill>
                <a:latin typeface="Segoe UI" pitchFamily="34" charset="0"/>
                <a:ea typeface="Segoe UI" pitchFamily="34" charset="-122"/>
                <a:cs typeface="Segoe UI" pitchFamily="34" charset="-120"/>
              </a:rPr>
              <a:t>✕ REJECT WITH AUDIT REASON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SMART CREDENTIALS</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3: Instant Wallet ID Cards &amp; QR Anti-Counterfeit</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5212080" cy="4572000"/>
          </a:xfrm>
          <a:prstGeom prst="roundRect">
            <a:avLst>
              <a:gd name="adj" fmla="val 3000"/>
            </a:avLst>
          </a:prstGeom>
          <a:solidFill>
            <a:srgbClr val="1C2541"/>
          </a:solidFill>
          <a:ln w="19050">
            <a:solidFill>
              <a:srgbClr val="3B82F6"/>
            </a:solidFill>
            <a:prstDash val="solid"/>
          </a:ln>
        </p:spPr>
      </p:sp>
      <p:sp>
        <p:nvSpPr>
          <p:cNvPr id="8" name="Text 5"/>
          <p:cNvSpPr/>
          <p:nvPr/>
        </p:nvSpPr>
        <p:spPr>
          <a:xfrm>
            <a:off x="1097280" y="1737360"/>
            <a:ext cx="448056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OFFICIAL CR80 SPECIFICATION</a:t>
            </a:r>
            <a:endParaRPr lang="en-US" sz="1100" dirty="0"/>
          </a:p>
        </p:txBody>
      </p:sp>
      <p:sp>
        <p:nvSpPr>
          <p:cNvPr id="9" name="Text 6"/>
          <p:cNvSpPr/>
          <p:nvPr/>
        </p:nvSpPr>
        <p:spPr>
          <a:xfrm>
            <a:off x="10972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Print-Ready Dual-Sided ID Card</a:t>
            </a:r>
            <a:endParaRPr lang="en-US" sz="1800" dirty="0"/>
          </a:p>
        </p:txBody>
      </p:sp>
      <p:sp>
        <p:nvSpPr>
          <p:cNvPr id="10" name="Text 7"/>
          <p:cNvSpPr/>
          <p:nvPr/>
        </p:nvSpPr>
        <p:spPr>
          <a:xfrm>
            <a:off x="1097280" y="2560320"/>
            <a:ext cx="4480560" cy="3200400"/>
          </a:xfrm>
          <a:prstGeom prst="rect">
            <a:avLst/>
          </a:prstGeom>
          <a:noFill/>
          <a:ln/>
        </p:spPr>
        <p:txBody>
          <a:bodyPr wrap="square" rtlCol="0" anchor="ctr"/>
          <a:lstStyle/>
          <a:p>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Standard CR80 Dimensions: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54mm x 85.6mm wallet format. Fits standard PVC card printers.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Front Side Elements: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JB Infra Logo, Associate Photo, Full Name, Cadre Badge, Permanent JBIN ID, and Contact Mobile.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Back Side Elements: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Complete Address, Emergency Contacts, Authorized Signatory, and Anti-Counterfeit QR Code.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Vector PDF Generation: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Built with PDFKit at 300+ DPI sharpness. Never pixelated.
</a:t>
            </a:r>
            <a:endParaRPr lang="en-US" sz="1100" dirty="0"/>
          </a:p>
        </p:txBody>
      </p:sp>
      <p:sp>
        <p:nvSpPr>
          <p:cNvPr id="11" name="Shape 8"/>
          <p:cNvSpPr/>
          <p:nvPr/>
        </p:nvSpPr>
        <p:spPr>
          <a:xfrm>
            <a:off x="6217920" y="1463040"/>
            <a:ext cx="5212080" cy="4572000"/>
          </a:xfrm>
          <a:prstGeom prst="roundRect">
            <a:avLst>
              <a:gd name="adj" fmla="val 3000"/>
            </a:avLst>
          </a:prstGeom>
          <a:solidFill>
            <a:srgbClr val="1E293B"/>
          </a:solidFill>
          <a:ln w="19050">
            <a:solidFill>
              <a:srgbClr val="10B981"/>
            </a:solidFill>
            <a:prstDash val="solid"/>
          </a:ln>
        </p:spPr>
      </p:sp>
      <p:sp>
        <p:nvSpPr>
          <p:cNvPr id="12" name="Text 9"/>
          <p:cNvSpPr/>
          <p:nvPr/>
        </p:nvSpPr>
        <p:spPr>
          <a:xfrm>
            <a:off x="6583680" y="1737360"/>
            <a:ext cx="448056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REAL-TIME FRAUD PREVENTION</a:t>
            </a:r>
            <a:endParaRPr lang="en-US" sz="1100" dirty="0"/>
          </a:p>
        </p:txBody>
      </p:sp>
      <p:sp>
        <p:nvSpPr>
          <p:cNvPr id="13" name="Text 10"/>
          <p:cNvSpPr/>
          <p:nvPr/>
        </p:nvSpPr>
        <p:spPr>
          <a:xfrm>
            <a:off x="65836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Dynamic QR Code Verification</a:t>
            </a:r>
            <a:endParaRPr lang="en-US" sz="1800" dirty="0"/>
          </a:p>
        </p:txBody>
      </p:sp>
      <p:sp>
        <p:nvSpPr>
          <p:cNvPr id="14" name="Text 11"/>
          <p:cNvSpPr/>
          <p:nvPr/>
        </p:nvSpPr>
        <p:spPr>
          <a:xfrm>
            <a:off x="6583680" y="2560320"/>
            <a:ext cx="4480560" cy="3200400"/>
          </a:xfrm>
          <a:prstGeom prst="rect">
            <a:avLst/>
          </a:prstGeom>
          <a:noFill/>
          <a:ln/>
        </p:spPr>
        <p:txBody>
          <a:bodyPr wrap="square" rtlCol="0" anchor="ctr"/>
          <a:lstStyle/>
          <a:p>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Instant Smartphone Scan: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Scanning the QR directs to jbinfragroup.com/verify/[JBIN_CODE].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Live Public Credential Check: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Displays verified badge, active employment status, official photo, and cadre tier.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Automatic Invalidation: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If an associate leaves or is suspended, the QR verification immediately reflects "INACTIVE" to prevent misuse.
</a:t>
            </a:r>
            <a:pPr indent="0" marL="0">
              <a:lnSpc>
                <a:spcPts val="1400"/>
              </a:lnSpc>
              <a:buNone/>
            </a:pPr>
            <a:r>
              <a:rPr lang="en-US" sz="1100" b="1" dirty="0">
                <a:solidFill>
                  <a:srgbClr val="FFFFFF"/>
                </a:solidFill>
                <a:latin typeface="Segoe UI" pitchFamily="34" charset="0"/>
                <a:ea typeface="Segoe UI" pitchFamily="34" charset="-122"/>
                <a:cs typeface="Segoe UI" pitchFamily="34" charset="-120"/>
              </a:rPr>
              <a:t>• WhatsApp Automated Dispatch:
</a:t>
            </a:r>
            <a:pPr indent="0" marL="0">
              <a:lnSpc>
                <a:spcPts val="1400"/>
              </a:lnSpc>
              <a:buNone/>
            </a:pPr>
            <a:r>
              <a:rPr lang="en-US" sz="1100" dirty="0">
                <a:solidFill>
                  <a:srgbClr val="94A3B8"/>
                </a:solidFill>
                <a:latin typeface="Segoe UI" pitchFamily="34" charset="0"/>
                <a:ea typeface="Segoe UI" pitchFamily="34" charset="-122"/>
                <a:cs typeface="Segoe UI" pitchFamily="34" charset="-120"/>
              </a:rPr>
              <a:t>  Dispatches high-res ID card PDF directly to associate WhatsApp number upon approval.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SECURITY ARCHITECTURE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4: Enterprise Governance, CED Security &amp; Audit</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3383280" cy="1371600"/>
          </a:xfrm>
          <a:prstGeom prst="roundRect">
            <a:avLst>
              <a:gd name="adj" fmla="val 6667"/>
            </a:avLst>
          </a:prstGeom>
          <a:solidFill>
            <a:srgbClr val="1E293B"/>
          </a:solidFill>
          <a:ln w="12700">
            <a:solidFill>
              <a:srgbClr val="334155"/>
            </a:solidFill>
            <a:prstDash val="solid"/>
          </a:ln>
        </p:spPr>
      </p:sp>
      <p:sp>
        <p:nvSpPr>
          <p:cNvPr id="8" name="Text 5"/>
          <p:cNvSpPr/>
          <p:nvPr/>
        </p:nvSpPr>
        <p:spPr>
          <a:xfrm>
            <a:off x="914400" y="1600200"/>
            <a:ext cx="3017520" cy="32004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SUPER_ADMIN</a:t>
            </a:r>
            <a:endParaRPr lang="en-US" sz="1100" dirty="0"/>
          </a:p>
        </p:txBody>
      </p:sp>
      <p:sp>
        <p:nvSpPr>
          <p:cNvPr id="9" name="Text 6"/>
          <p:cNvSpPr/>
          <p:nvPr/>
        </p:nvSpPr>
        <p:spPr>
          <a:xfrm>
            <a:off x="914400" y="192024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Complete access to configuration, database sequences, and user permissions.</a:t>
            </a:r>
            <a:endParaRPr lang="en-US" sz="950" dirty="0"/>
          </a:p>
        </p:txBody>
      </p:sp>
      <p:sp>
        <p:nvSpPr>
          <p:cNvPr id="10" name="Shape 7"/>
          <p:cNvSpPr/>
          <p:nvPr/>
        </p:nvSpPr>
        <p:spPr>
          <a:xfrm>
            <a:off x="4389120" y="1463040"/>
            <a:ext cx="3383280" cy="1371600"/>
          </a:xfrm>
          <a:prstGeom prst="roundRect">
            <a:avLst>
              <a:gd name="adj" fmla="val 6667"/>
            </a:avLst>
          </a:prstGeom>
          <a:solidFill>
            <a:srgbClr val="1E293B"/>
          </a:solidFill>
          <a:ln w="12700">
            <a:solidFill>
              <a:srgbClr val="334155"/>
            </a:solidFill>
            <a:prstDash val="solid"/>
          </a:ln>
        </p:spPr>
      </p:sp>
      <p:sp>
        <p:nvSpPr>
          <p:cNvPr id="11" name="Text 8"/>
          <p:cNvSpPr/>
          <p:nvPr/>
        </p:nvSpPr>
        <p:spPr>
          <a:xfrm>
            <a:off x="4572000" y="1600200"/>
            <a:ext cx="3017520" cy="320040"/>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RESTRICTED_ADMIN</a:t>
            </a:r>
            <a:endParaRPr lang="en-US" sz="1100" dirty="0"/>
          </a:p>
        </p:txBody>
      </p:sp>
      <p:sp>
        <p:nvSpPr>
          <p:cNvPr id="12" name="Text 9"/>
          <p:cNvSpPr/>
          <p:nvPr/>
        </p:nvSpPr>
        <p:spPr>
          <a:xfrm>
            <a:off x="4572000" y="192024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Exclusive access to confidential Chief Executive Director (CED) cadre records.</a:t>
            </a:r>
            <a:endParaRPr lang="en-US" sz="950" dirty="0"/>
          </a:p>
        </p:txBody>
      </p:sp>
      <p:sp>
        <p:nvSpPr>
          <p:cNvPr id="13" name="Shape 10"/>
          <p:cNvSpPr/>
          <p:nvPr/>
        </p:nvSpPr>
        <p:spPr>
          <a:xfrm>
            <a:off x="8046720" y="1463040"/>
            <a:ext cx="3383280" cy="1371600"/>
          </a:xfrm>
          <a:prstGeom prst="roundRect">
            <a:avLst>
              <a:gd name="adj" fmla="val 6667"/>
            </a:avLst>
          </a:prstGeom>
          <a:solidFill>
            <a:srgbClr val="1E293B"/>
          </a:solidFill>
          <a:ln w="12700">
            <a:solidFill>
              <a:srgbClr val="334155"/>
            </a:solidFill>
            <a:prstDash val="solid"/>
          </a:ln>
        </p:spPr>
      </p:sp>
      <p:sp>
        <p:nvSpPr>
          <p:cNvPr id="14" name="Text 11"/>
          <p:cNvSpPr/>
          <p:nvPr/>
        </p:nvSpPr>
        <p:spPr>
          <a:xfrm>
            <a:off x="8229600" y="1600200"/>
            <a:ext cx="3017520" cy="32004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KYC_ADMIN</a:t>
            </a:r>
            <a:endParaRPr lang="en-US" sz="1100" dirty="0"/>
          </a:p>
        </p:txBody>
      </p:sp>
      <p:sp>
        <p:nvSpPr>
          <p:cNvPr id="15" name="Text 12"/>
          <p:cNvSpPr/>
          <p:nvPr/>
        </p:nvSpPr>
        <p:spPr>
          <a:xfrm>
            <a:off x="8229600" y="192024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Dedicated focus on split-screen verification, approvals, and correction requests.</a:t>
            </a:r>
            <a:endParaRPr lang="en-US" sz="950" dirty="0"/>
          </a:p>
        </p:txBody>
      </p:sp>
      <p:sp>
        <p:nvSpPr>
          <p:cNvPr id="16" name="Shape 13"/>
          <p:cNvSpPr/>
          <p:nvPr/>
        </p:nvSpPr>
        <p:spPr>
          <a:xfrm>
            <a:off x="731520" y="3017520"/>
            <a:ext cx="3383280" cy="1371600"/>
          </a:xfrm>
          <a:prstGeom prst="roundRect">
            <a:avLst>
              <a:gd name="adj" fmla="val 6667"/>
            </a:avLst>
          </a:prstGeom>
          <a:solidFill>
            <a:srgbClr val="1E293B"/>
          </a:solidFill>
          <a:ln w="12700">
            <a:solidFill>
              <a:srgbClr val="334155"/>
            </a:solidFill>
            <a:prstDash val="solid"/>
          </a:ln>
        </p:spPr>
      </p:sp>
      <p:sp>
        <p:nvSpPr>
          <p:cNvPr id="17" name="Text 14"/>
          <p:cNvSpPr/>
          <p:nvPr/>
        </p:nvSpPr>
        <p:spPr>
          <a:xfrm>
            <a:off x="914400" y="3154680"/>
            <a:ext cx="3017520" cy="32004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CADRE_ADMIN</a:t>
            </a:r>
            <a:endParaRPr lang="en-US" sz="1100" dirty="0"/>
          </a:p>
        </p:txBody>
      </p:sp>
      <p:sp>
        <p:nvSpPr>
          <p:cNvPr id="18" name="Text 15"/>
          <p:cNvSpPr/>
          <p:nvPr/>
        </p:nvSpPr>
        <p:spPr>
          <a:xfrm>
            <a:off x="914400" y="347472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Authority to process cadre promotions and reorganize team uplines.</a:t>
            </a:r>
            <a:endParaRPr lang="en-US" sz="950" dirty="0"/>
          </a:p>
        </p:txBody>
      </p:sp>
      <p:sp>
        <p:nvSpPr>
          <p:cNvPr id="19" name="Shape 16"/>
          <p:cNvSpPr/>
          <p:nvPr/>
        </p:nvSpPr>
        <p:spPr>
          <a:xfrm>
            <a:off x="4389120" y="3017520"/>
            <a:ext cx="3383280" cy="1371600"/>
          </a:xfrm>
          <a:prstGeom prst="roundRect">
            <a:avLst>
              <a:gd name="adj" fmla="val 6667"/>
            </a:avLst>
          </a:prstGeom>
          <a:solidFill>
            <a:srgbClr val="1E293B"/>
          </a:solidFill>
          <a:ln w="12700">
            <a:solidFill>
              <a:srgbClr val="334155"/>
            </a:solidFill>
            <a:prstDash val="solid"/>
          </a:ln>
        </p:spPr>
      </p:sp>
      <p:sp>
        <p:nvSpPr>
          <p:cNvPr id="20" name="Text 17"/>
          <p:cNvSpPr/>
          <p:nvPr/>
        </p:nvSpPr>
        <p:spPr>
          <a:xfrm>
            <a:off x="4572000" y="3154680"/>
            <a:ext cx="3017520" cy="32004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ADMIN</a:t>
            </a:r>
            <a:endParaRPr lang="en-US" sz="1100" dirty="0"/>
          </a:p>
        </p:txBody>
      </p:sp>
      <p:sp>
        <p:nvSpPr>
          <p:cNvPr id="21" name="Text 18"/>
          <p:cNvSpPr/>
          <p:nvPr/>
        </p:nvSpPr>
        <p:spPr>
          <a:xfrm>
            <a:off x="4572000" y="347472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General administrative operations, universal search, and Excel exports.</a:t>
            </a:r>
            <a:endParaRPr lang="en-US" sz="950" dirty="0"/>
          </a:p>
        </p:txBody>
      </p:sp>
      <p:sp>
        <p:nvSpPr>
          <p:cNvPr id="22" name="Shape 19"/>
          <p:cNvSpPr/>
          <p:nvPr/>
        </p:nvSpPr>
        <p:spPr>
          <a:xfrm>
            <a:off x="8046720" y="3017520"/>
            <a:ext cx="3383280" cy="1371600"/>
          </a:xfrm>
          <a:prstGeom prst="roundRect">
            <a:avLst>
              <a:gd name="adj" fmla="val 6667"/>
            </a:avLst>
          </a:prstGeom>
          <a:solidFill>
            <a:srgbClr val="1E293B"/>
          </a:solidFill>
          <a:ln w="12700">
            <a:solidFill>
              <a:srgbClr val="334155"/>
            </a:solidFill>
            <a:prstDash val="solid"/>
          </a:ln>
        </p:spPr>
      </p:sp>
      <p:sp>
        <p:nvSpPr>
          <p:cNvPr id="23" name="Text 20"/>
          <p:cNvSpPr/>
          <p:nvPr/>
        </p:nvSpPr>
        <p:spPr>
          <a:xfrm>
            <a:off x="8229600" y="3154680"/>
            <a:ext cx="3017520" cy="32004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EXECUTIVE</a:t>
            </a:r>
            <a:endParaRPr lang="en-US" sz="1100" dirty="0"/>
          </a:p>
        </p:txBody>
      </p:sp>
      <p:sp>
        <p:nvSpPr>
          <p:cNvPr id="24" name="Text 21"/>
          <p:cNvSpPr/>
          <p:nvPr/>
        </p:nvSpPr>
        <p:spPr>
          <a:xfrm>
            <a:off x="8229600" y="3474720"/>
            <a:ext cx="3017520" cy="822960"/>
          </a:xfrm>
          <a:prstGeom prst="rect">
            <a:avLst/>
          </a:prstGeom>
          <a:noFill/>
          <a:ln/>
        </p:spPr>
        <p:txBody>
          <a:bodyPr wrap="square" rtlCol="0" anchor="ctr"/>
          <a:lstStyle/>
          <a:p>
            <a:pPr indent="0" marL="0">
              <a:lnSpc>
                <a:spcPts val="1300"/>
              </a:lnSpc>
              <a:buNone/>
            </a:pPr>
            <a:r>
              <a:rPr lang="en-US" sz="950" dirty="0">
                <a:solidFill>
                  <a:srgbClr val="94A3B8"/>
                </a:solidFill>
                <a:latin typeface="Segoe UI" pitchFamily="34" charset="0"/>
                <a:ea typeface="Segoe UI" pitchFamily="34" charset="-122"/>
                <a:cs typeface="Segoe UI" pitchFamily="34" charset="-120"/>
              </a:rPr>
              <a:t>Field self-service portal to submit applications and view digital ID card.</a:t>
            </a:r>
            <a:endParaRPr lang="en-US" sz="950" dirty="0"/>
          </a:p>
        </p:txBody>
      </p:sp>
      <p:sp>
        <p:nvSpPr>
          <p:cNvPr id="25" name="Shape 22"/>
          <p:cNvSpPr/>
          <p:nvPr/>
        </p:nvSpPr>
        <p:spPr>
          <a:xfrm>
            <a:off x="731520" y="4846320"/>
            <a:ext cx="10698480" cy="1280160"/>
          </a:xfrm>
          <a:prstGeom prst="roundRect">
            <a:avLst>
              <a:gd name="adj" fmla="val 7143"/>
            </a:avLst>
          </a:prstGeom>
          <a:solidFill>
            <a:srgbClr val="18181B"/>
          </a:solidFill>
          <a:ln w="12700">
            <a:solidFill>
              <a:srgbClr val="F59E0B"/>
            </a:solidFill>
            <a:prstDash val="solid"/>
          </a:ln>
        </p:spPr>
      </p:sp>
      <p:sp>
        <p:nvSpPr>
          <p:cNvPr id="26" name="Text 23"/>
          <p:cNvSpPr/>
          <p:nvPr/>
        </p:nvSpPr>
        <p:spPr>
          <a:xfrm>
            <a:off x="1005840" y="4983480"/>
            <a:ext cx="10058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TAMPER-PROOF AUDIT TRAIL &amp; PRIVACY GUARANTEE</a:t>
            </a:r>
            <a:endParaRPr lang="en-US" sz="1000" dirty="0"/>
          </a:p>
        </p:txBody>
      </p:sp>
      <p:sp>
        <p:nvSpPr>
          <p:cNvPr id="27" name="Text 24"/>
          <p:cNvSpPr/>
          <p:nvPr/>
        </p:nvSpPr>
        <p:spPr>
          <a:xfrm>
            <a:off x="1005840" y="5257800"/>
            <a:ext cx="10058400" cy="731520"/>
          </a:xfrm>
          <a:prstGeom prst="rect">
            <a:avLst/>
          </a:prstGeom>
          <a:noFill/>
          <a:ln/>
        </p:spPr>
        <p:txBody>
          <a:bodyPr wrap="square" rtlCol="0" anchor="ctr"/>
          <a:lstStyle/>
          <a:p>
            <a:pPr indent="0" marL="0">
              <a:lnSpc>
                <a:spcPts val="1600"/>
              </a:lnSpc>
              <a:buNone/>
            </a:pPr>
            <a:r>
              <a:rPr lang="en-US" sz="1100" dirty="0">
                <a:solidFill>
                  <a:srgbClr val="F1F5F9"/>
                </a:solidFill>
                <a:latin typeface="Segoe UI" pitchFamily="34" charset="0"/>
                <a:ea typeface="Segoe UI" pitchFamily="34" charset="-122"/>
                <a:cs typeface="Segoe UI" pitchFamily="34" charset="-120"/>
              </a:rPr>
              <a:t>Every user action (logins, card regenerations, KYC decisions, and cadre promotions) is written to an immutable AuditLog with IP address, user ID, timestamp, and metadata. Confidential CED records are blocked at the SQL/Prisma query level to prevent unauthorized internal snooping.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BUSINESS INTELLIGENCE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Module 5: Multi-Filter Search &amp; Excel Reporting</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5212080" cy="4572000"/>
          </a:xfrm>
          <a:prstGeom prst="roundRect">
            <a:avLst>
              <a:gd name="adj" fmla="val 3000"/>
            </a:avLst>
          </a:prstGeom>
          <a:solidFill>
            <a:srgbClr val="1E293B"/>
          </a:solidFill>
          <a:ln w="19050">
            <a:solidFill>
              <a:srgbClr val="3B82F6"/>
            </a:solidFill>
            <a:prstDash val="solid"/>
          </a:ln>
        </p:spPr>
      </p:sp>
      <p:sp>
        <p:nvSpPr>
          <p:cNvPr id="8" name="Text 5"/>
          <p:cNvSpPr/>
          <p:nvPr/>
        </p:nvSpPr>
        <p:spPr>
          <a:xfrm>
            <a:off x="1097280" y="1737360"/>
            <a:ext cx="448056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UNIVERSAL MULTI-FILTER SEARCH</a:t>
            </a:r>
            <a:endParaRPr lang="en-US" sz="1100" dirty="0"/>
          </a:p>
        </p:txBody>
      </p:sp>
      <p:sp>
        <p:nvSpPr>
          <p:cNvPr id="9" name="Text 6"/>
          <p:cNvSpPr/>
          <p:nvPr/>
        </p:nvSpPr>
        <p:spPr>
          <a:xfrm>
            <a:off x="10972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Instant Field Query Engine</a:t>
            </a:r>
            <a:endParaRPr lang="en-US" sz="1800" dirty="0"/>
          </a:p>
        </p:txBody>
      </p:sp>
      <p:sp>
        <p:nvSpPr>
          <p:cNvPr id="10" name="Text 7"/>
          <p:cNvSpPr/>
          <p:nvPr/>
        </p:nvSpPr>
        <p:spPr>
          <a:xfrm>
            <a:off x="1097280" y="2560320"/>
            <a:ext cx="4480560" cy="3200400"/>
          </a:xfrm>
          <a:prstGeom prst="rect">
            <a:avLst/>
          </a:prstGeom>
          <a:noFill/>
          <a:ln/>
        </p:spPr>
        <p:txBody>
          <a:bodyPr wrap="square" rtlCol="0" anchor="ctr"/>
          <a:lstStyle/>
          <a:p>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Multi-Dimensional Query Filters: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Search by Cadre, Team, Mandal, District, State, Application Date, or Active Status.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Full-Text Instant Matching: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Query across Permanent ID, Name, Mobile, Father Name, or Upline Leader in &lt; 50ms.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Confidential Exclusion by Default: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Protects executive leadership records automatically from unprivileged staff queries.
</a:t>
            </a:r>
            <a:endParaRPr lang="en-US" sz="1100" dirty="0"/>
          </a:p>
        </p:txBody>
      </p:sp>
      <p:sp>
        <p:nvSpPr>
          <p:cNvPr id="11" name="Shape 8"/>
          <p:cNvSpPr/>
          <p:nvPr/>
        </p:nvSpPr>
        <p:spPr>
          <a:xfrm>
            <a:off x="6217920" y="1463040"/>
            <a:ext cx="5212080" cy="4572000"/>
          </a:xfrm>
          <a:prstGeom prst="roundRect">
            <a:avLst>
              <a:gd name="adj" fmla="val 3000"/>
            </a:avLst>
          </a:prstGeom>
          <a:solidFill>
            <a:srgbClr val="1E293B"/>
          </a:solidFill>
          <a:ln w="19050">
            <a:solidFill>
              <a:srgbClr val="10B981"/>
            </a:solidFill>
            <a:prstDash val="solid"/>
          </a:ln>
        </p:spPr>
      </p:sp>
      <p:sp>
        <p:nvSpPr>
          <p:cNvPr id="12" name="Text 9"/>
          <p:cNvSpPr/>
          <p:nvPr/>
        </p:nvSpPr>
        <p:spPr>
          <a:xfrm>
            <a:off x="6583680" y="1737360"/>
            <a:ext cx="448056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EXCELJS AUTOMATED REPORTING</a:t>
            </a:r>
            <a:endParaRPr lang="en-US" sz="1100" dirty="0"/>
          </a:p>
        </p:txBody>
      </p:sp>
      <p:sp>
        <p:nvSpPr>
          <p:cNvPr id="13" name="Text 10"/>
          <p:cNvSpPr/>
          <p:nvPr/>
        </p:nvSpPr>
        <p:spPr>
          <a:xfrm>
            <a:off x="6583680" y="2011680"/>
            <a:ext cx="448056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One-Click Formatted Spreadsheets</a:t>
            </a:r>
            <a:endParaRPr lang="en-US" sz="1800" dirty="0"/>
          </a:p>
        </p:txBody>
      </p:sp>
      <p:sp>
        <p:nvSpPr>
          <p:cNvPr id="14" name="Text 11"/>
          <p:cNvSpPr/>
          <p:nvPr/>
        </p:nvSpPr>
        <p:spPr>
          <a:xfrm>
            <a:off x="6583680" y="2560320"/>
            <a:ext cx="4480560" cy="3200400"/>
          </a:xfrm>
          <a:prstGeom prst="rect">
            <a:avLst/>
          </a:prstGeom>
          <a:noFill/>
          <a:ln/>
        </p:spPr>
        <p:txBody>
          <a:bodyPr wrap="square" rtlCol="0" anchor="ctr"/>
          <a:lstStyle/>
          <a:p>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Formatted Corporate Excel Workbooks: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Generates styled .xlsx files with company header banner, bold columns, and alternating row colors.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Dynamic Excel Formula Summaries: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Includes automated COUNTA, COUNTIF, and cadre distribution statistics for leadership meetings.
</a:t>
            </a:r>
            <a:pPr indent="0" marL="0">
              <a:lnSpc>
                <a:spcPts val="1500"/>
              </a:lnSpc>
              <a:buNone/>
            </a:pPr>
            <a:r>
              <a:rPr lang="en-US" sz="1100" b="1" dirty="0">
                <a:solidFill>
                  <a:srgbClr val="FFFFFF"/>
                </a:solidFill>
                <a:latin typeface="Segoe UI" pitchFamily="34" charset="0"/>
                <a:ea typeface="Segoe UI" pitchFamily="34" charset="-122"/>
                <a:cs typeface="Segoe UI" pitchFamily="34" charset="-120"/>
              </a:rPr>
              <a:t>• Streamlined Compliance Auditing:
</a:t>
            </a:r>
            <a:pPr indent="0" marL="0">
              <a:lnSpc>
                <a:spcPts val="1500"/>
              </a:lnSpc>
              <a:buNone/>
            </a:pPr>
            <a:r>
              <a:rPr lang="en-US" sz="1100" dirty="0">
                <a:solidFill>
                  <a:srgbClr val="94A3B8"/>
                </a:solidFill>
                <a:latin typeface="Segoe UI" pitchFamily="34" charset="0"/>
                <a:ea typeface="Segoe UI" pitchFamily="34" charset="-122"/>
                <a:cs typeface="Segoe UI" pitchFamily="34" charset="-120"/>
              </a:rPr>
              <a:t>  Instantly export all KYC approved or pending records for statutory inspection.
</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ARCHITECTURE &amp; PERFORMANCE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Modern, Enterprise-Grade Technology Stack</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3383280" cy="2011680"/>
          </a:xfrm>
          <a:prstGeom prst="roundRect">
            <a:avLst>
              <a:gd name="adj" fmla="val 5455"/>
            </a:avLst>
          </a:prstGeom>
          <a:solidFill>
            <a:srgbClr val="1C2541"/>
          </a:solidFill>
          <a:ln w="12700">
            <a:solidFill>
              <a:srgbClr val="334155"/>
            </a:solidFill>
            <a:prstDash val="solid"/>
          </a:ln>
        </p:spPr>
      </p:sp>
      <p:sp>
        <p:nvSpPr>
          <p:cNvPr id="8" name="Text 5"/>
          <p:cNvSpPr/>
          <p:nvPr/>
        </p:nvSpPr>
        <p:spPr>
          <a:xfrm>
            <a:off x="1005840" y="1645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FRONTEND &amp; UI</a:t>
            </a:r>
            <a:endParaRPr lang="en-US" sz="1000" dirty="0"/>
          </a:p>
        </p:txBody>
      </p:sp>
      <p:sp>
        <p:nvSpPr>
          <p:cNvPr id="9" name="Text 6"/>
          <p:cNvSpPr/>
          <p:nvPr/>
        </p:nvSpPr>
        <p:spPr>
          <a:xfrm>
            <a:off x="1005840" y="1920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Next.js 14 + React 18</a:t>
            </a:r>
            <a:endParaRPr lang="en-US" sz="1400" dirty="0"/>
          </a:p>
        </p:txBody>
      </p:sp>
      <p:sp>
        <p:nvSpPr>
          <p:cNvPr id="10" name="Text 7"/>
          <p:cNvSpPr/>
          <p:nvPr/>
        </p:nvSpPr>
        <p:spPr>
          <a:xfrm>
            <a:off x="1005840" y="2423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App Router, Server Components, sub-second page loads, and sleek Tailwind CSS dark/light theme.</a:t>
            </a:r>
            <a:endParaRPr lang="en-US" sz="1050" dirty="0"/>
          </a:p>
        </p:txBody>
      </p:sp>
      <p:sp>
        <p:nvSpPr>
          <p:cNvPr id="11" name="Shape 8"/>
          <p:cNvSpPr/>
          <p:nvPr/>
        </p:nvSpPr>
        <p:spPr>
          <a:xfrm>
            <a:off x="4389120" y="1463040"/>
            <a:ext cx="3383280" cy="2011680"/>
          </a:xfrm>
          <a:prstGeom prst="roundRect">
            <a:avLst>
              <a:gd name="adj" fmla="val 5455"/>
            </a:avLst>
          </a:prstGeom>
          <a:solidFill>
            <a:srgbClr val="1C2541"/>
          </a:solidFill>
          <a:ln w="12700">
            <a:solidFill>
              <a:srgbClr val="334155"/>
            </a:solidFill>
            <a:prstDash val="solid"/>
          </a:ln>
        </p:spPr>
      </p:sp>
      <p:sp>
        <p:nvSpPr>
          <p:cNvPr id="12" name="Text 9"/>
          <p:cNvSpPr/>
          <p:nvPr/>
        </p:nvSpPr>
        <p:spPr>
          <a:xfrm>
            <a:off x="4663440" y="1645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BACKEND &amp; APIS</a:t>
            </a:r>
            <a:endParaRPr lang="en-US" sz="1000" dirty="0"/>
          </a:p>
        </p:txBody>
      </p:sp>
      <p:sp>
        <p:nvSpPr>
          <p:cNvPr id="13" name="Text 10"/>
          <p:cNvSpPr/>
          <p:nvPr/>
        </p:nvSpPr>
        <p:spPr>
          <a:xfrm>
            <a:off x="4663440" y="1920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Edge-Ready Route Handlers</a:t>
            </a:r>
            <a:endParaRPr lang="en-US" sz="1400" dirty="0"/>
          </a:p>
        </p:txBody>
      </p:sp>
      <p:sp>
        <p:nvSpPr>
          <p:cNvPr id="14" name="Text 11"/>
          <p:cNvSpPr/>
          <p:nvPr/>
        </p:nvSpPr>
        <p:spPr>
          <a:xfrm>
            <a:off x="4663440" y="2423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Type-safe endpoints with Zod schema validation and robust error handling.</a:t>
            </a:r>
            <a:endParaRPr lang="en-US" sz="1050" dirty="0"/>
          </a:p>
        </p:txBody>
      </p:sp>
      <p:sp>
        <p:nvSpPr>
          <p:cNvPr id="15" name="Shape 12"/>
          <p:cNvSpPr/>
          <p:nvPr/>
        </p:nvSpPr>
        <p:spPr>
          <a:xfrm>
            <a:off x="8046720" y="1463040"/>
            <a:ext cx="3383280" cy="2011680"/>
          </a:xfrm>
          <a:prstGeom prst="roundRect">
            <a:avLst>
              <a:gd name="adj" fmla="val 5455"/>
            </a:avLst>
          </a:prstGeom>
          <a:solidFill>
            <a:srgbClr val="1C2541"/>
          </a:solidFill>
          <a:ln w="12700">
            <a:solidFill>
              <a:srgbClr val="334155"/>
            </a:solidFill>
            <a:prstDash val="solid"/>
          </a:ln>
        </p:spPr>
      </p:sp>
      <p:sp>
        <p:nvSpPr>
          <p:cNvPr id="16" name="Text 13"/>
          <p:cNvSpPr/>
          <p:nvPr/>
        </p:nvSpPr>
        <p:spPr>
          <a:xfrm>
            <a:off x="8321040" y="1645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DATABASE &amp; ORM</a:t>
            </a:r>
            <a:endParaRPr lang="en-US" sz="1000" dirty="0"/>
          </a:p>
        </p:txBody>
      </p:sp>
      <p:sp>
        <p:nvSpPr>
          <p:cNvPr id="17" name="Text 14"/>
          <p:cNvSpPr/>
          <p:nvPr/>
        </p:nvSpPr>
        <p:spPr>
          <a:xfrm>
            <a:off x="8321040" y="1920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Prisma ORM + Relational DB</a:t>
            </a:r>
            <a:endParaRPr lang="en-US" sz="1400" dirty="0"/>
          </a:p>
        </p:txBody>
      </p:sp>
      <p:sp>
        <p:nvSpPr>
          <p:cNvPr id="18" name="Text 15"/>
          <p:cNvSpPr/>
          <p:nvPr/>
        </p:nvSpPr>
        <p:spPr>
          <a:xfrm>
            <a:off x="8321040" y="2423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Strict relational data model, indexed queries, and migration version control.</a:t>
            </a:r>
            <a:endParaRPr lang="en-US" sz="1050" dirty="0"/>
          </a:p>
        </p:txBody>
      </p:sp>
      <p:sp>
        <p:nvSpPr>
          <p:cNvPr id="19" name="Shape 16"/>
          <p:cNvSpPr/>
          <p:nvPr/>
        </p:nvSpPr>
        <p:spPr>
          <a:xfrm>
            <a:off x="731520" y="3749040"/>
            <a:ext cx="3383280" cy="2011680"/>
          </a:xfrm>
          <a:prstGeom prst="roundRect">
            <a:avLst>
              <a:gd name="adj" fmla="val 5455"/>
            </a:avLst>
          </a:prstGeom>
          <a:solidFill>
            <a:srgbClr val="1C2541"/>
          </a:solidFill>
          <a:ln w="12700">
            <a:solidFill>
              <a:srgbClr val="334155"/>
            </a:solidFill>
            <a:prstDash val="solid"/>
          </a:ln>
        </p:spPr>
      </p:sp>
      <p:sp>
        <p:nvSpPr>
          <p:cNvPr id="20" name="Text 17"/>
          <p:cNvSpPr/>
          <p:nvPr/>
        </p:nvSpPr>
        <p:spPr>
          <a:xfrm>
            <a:off x="1005840" y="3931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SECURITY &amp; AUTH</a:t>
            </a:r>
            <a:endParaRPr lang="en-US" sz="1000" dirty="0"/>
          </a:p>
        </p:txBody>
      </p:sp>
      <p:sp>
        <p:nvSpPr>
          <p:cNvPr id="21" name="Text 18"/>
          <p:cNvSpPr/>
          <p:nvPr/>
        </p:nvSpPr>
        <p:spPr>
          <a:xfrm>
            <a:off x="1005840" y="4206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BCrypt + JWT Tokens</a:t>
            </a:r>
            <a:endParaRPr lang="en-US" sz="1400" dirty="0"/>
          </a:p>
        </p:txBody>
      </p:sp>
      <p:sp>
        <p:nvSpPr>
          <p:cNvPr id="22" name="Text 19"/>
          <p:cNvSpPr/>
          <p:nvPr/>
        </p:nvSpPr>
        <p:spPr>
          <a:xfrm>
            <a:off x="1005840" y="4709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Military-grade salted password hashing, HTTP-only cookie tokens, and role-based middleware.</a:t>
            </a:r>
            <a:endParaRPr lang="en-US" sz="1050" dirty="0"/>
          </a:p>
        </p:txBody>
      </p:sp>
      <p:sp>
        <p:nvSpPr>
          <p:cNvPr id="23" name="Shape 20"/>
          <p:cNvSpPr/>
          <p:nvPr/>
        </p:nvSpPr>
        <p:spPr>
          <a:xfrm>
            <a:off x="4389120" y="3749040"/>
            <a:ext cx="3383280" cy="2011680"/>
          </a:xfrm>
          <a:prstGeom prst="roundRect">
            <a:avLst>
              <a:gd name="adj" fmla="val 5455"/>
            </a:avLst>
          </a:prstGeom>
          <a:solidFill>
            <a:srgbClr val="1C2541"/>
          </a:solidFill>
          <a:ln w="12700">
            <a:solidFill>
              <a:srgbClr val="334155"/>
            </a:solidFill>
            <a:prstDash val="solid"/>
          </a:ln>
        </p:spPr>
      </p:sp>
      <p:sp>
        <p:nvSpPr>
          <p:cNvPr id="24" name="Text 21"/>
          <p:cNvSpPr/>
          <p:nvPr/>
        </p:nvSpPr>
        <p:spPr>
          <a:xfrm>
            <a:off x="4663440" y="3931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DOCUMENT ENGINE</a:t>
            </a:r>
            <a:endParaRPr lang="en-US" sz="1000" dirty="0"/>
          </a:p>
        </p:txBody>
      </p:sp>
      <p:sp>
        <p:nvSpPr>
          <p:cNvPr id="25" name="Text 22"/>
          <p:cNvSpPr/>
          <p:nvPr/>
        </p:nvSpPr>
        <p:spPr>
          <a:xfrm>
            <a:off x="4663440" y="4206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PDFKit + QRCode</a:t>
            </a:r>
            <a:endParaRPr lang="en-US" sz="1400" dirty="0"/>
          </a:p>
        </p:txBody>
      </p:sp>
      <p:sp>
        <p:nvSpPr>
          <p:cNvPr id="26" name="Text 23"/>
          <p:cNvSpPr/>
          <p:nvPr/>
        </p:nvSpPr>
        <p:spPr>
          <a:xfrm>
            <a:off x="4663440" y="4709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In-memory 300+ DPI vector ID card rendering with dynamic verification URLs.</a:t>
            </a:r>
            <a:endParaRPr lang="en-US" sz="1050" dirty="0"/>
          </a:p>
        </p:txBody>
      </p:sp>
      <p:sp>
        <p:nvSpPr>
          <p:cNvPr id="27" name="Shape 24"/>
          <p:cNvSpPr/>
          <p:nvPr/>
        </p:nvSpPr>
        <p:spPr>
          <a:xfrm>
            <a:off x="8046720" y="3749040"/>
            <a:ext cx="3383280" cy="2011680"/>
          </a:xfrm>
          <a:prstGeom prst="roundRect">
            <a:avLst>
              <a:gd name="adj" fmla="val 5455"/>
            </a:avLst>
          </a:prstGeom>
          <a:solidFill>
            <a:srgbClr val="1C2541"/>
          </a:solidFill>
          <a:ln w="12700">
            <a:solidFill>
              <a:srgbClr val="334155"/>
            </a:solidFill>
            <a:prstDash val="solid"/>
          </a:ln>
        </p:spPr>
      </p:sp>
      <p:sp>
        <p:nvSpPr>
          <p:cNvPr id="28" name="Text 25"/>
          <p:cNvSpPr/>
          <p:nvPr/>
        </p:nvSpPr>
        <p:spPr>
          <a:xfrm>
            <a:off x="8321040" y="3931920"/>
            <a:ext cx="2834640" cy="27432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SPREADSHEET ENGINE</a:t>
            </a:r>
            <a:endParaRPr lang="en-US" sz="1000" dirty="0"/>
          </a:p>
        </p:txBody>
      </p:sp>
      <p:sp>
        <p:nvSpPr>
          <p:cNvPr id="29" name="Text 26"/>
          <p:cNvSpPr/>
          <p:nvPr/>
        </p:nvSpPr>
        <p:spPr>
          <a:xfrm>
            <a:off x="8321040" y="4206240"/>
            <a:ext cx="2834640" cy="45720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ExcelJS</a:t>
            </a:r>
            <a:endParaRPr lang="en-US" sz="1400" dirty="0"/>
          </a:p>
        </p:txBody>
      </p:sp>
      <p:sp>
        <p:nvSpPr>
          <p:cNvPr id="30" name="Text 27"/>
          <p:cNvSpPr/>
          <p:nvPr/>
        </p:nvSpPr>
        <p:spPr>
          <a:xfrm>
            <a:off x="8321040" y="4709160"/>
            <a:ext cx="2834640" cy="914400"/>
          </a:xfrm>
          <a:prstGeom prst="rect">
            <a:avLst/>
          </a:prstGeom>
          <a:noFill/>
          <a:ln/>
        </p:spPr>
        <p:txBody>
          <a:bodyPr wrap="square" rtlCol="0" anchor="ctr"/>
          <a:lstStyle/>
          <a:p>
            <a:pPr indent="0" marL="0">
              <a:lnSpc>
                <a:spcPts val="1400"/>
              </a:lnSpc>
              <a:buNone/>
            </a:pPr>
            <a:r>
              <a:rPr lang="en-US" sz="1050" dirty="0">
                <a:solidFill>
                  <a:srgbClr val="94A3B8"/>
                </a:solidFill>
                <a:latin typeface="Segoe UI" pitchFamily="34" charset="0"/>
                <a:ea typeface="Segoe UI" pitchFamily="34" charset="-122"/>
                <a:cs typeface="Segoe UI" pitchFamily="34" charset="-120"/>
              </a:rPr>
              <a:t>Server-side native spreadsheet compilation with styling, headers, and formula cells.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BUSINESS CASE</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Quantifiable Business Advantages &amp; ROI</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2560320" cy="4480560"/>
          </a:xfrm>
          <a:prstGeom prst="roundRect">
            <a:avLst>
              <a:gd name="adj" fmla="val 5357"/>
            </a:avLst>
          </a:prstGeom>
          <a:solidFill>
            <a:srgbClr val="1E293B"/>
          </a:solidFill>
          <a:ln w="12700">
            <a:solidFill>
              <a:srgbClr val="334155"/>
            </a:solidFill>
            <a:prstDash val="solid"/>
          </a:ln>
        </p:spPr>
      </p:sp>
      <p:sp>
        <p:nvSpPr>
          <p:cNvPr id="8" name="Text 5"/>
          <p:cNvSpPr/>
          <p:nvPr/>
        </p:nvSpPr>
        <p:spPr>
          <a:xfrm>
            <a:off x="914400" y="1828800"/>
            <a:ext cx="2194560" cy="822960"/>
          </a:xfrm>
          <a:prstGeom prst="rect">
            <a:avLst/>
          </a:prstGeom>
          <a:noFill/>
          <a:ln/>
        </p:spPr>
        <p:txBody>
          <a:bodyPr wrap="square" rtlCol="0" anchor="ctr"/>
          <a:lstStyle/>
          <a:p>
            <a:pPr algn="ctr" indent="0" marL="0">
              <a:buNone/>
            </a:pPr>
            <a:r>
              <a:rPr lang="en-US" sz="3600" b="1" dirty="0">
                <a:solidFill>
                  <a:srgbClr val="F59E0B"/>
                </a:solidFill>
                <a:latin typeface="Segoe UI" pitchFamily="34" charset="0"/>
                <a:ea typeface="Segoe UI" pitchFamily="34" charset="-122"/>
                <a:cs typeface="Segoe UI" pitchFamily="34" charset="-120"/>
              </a:rPr>
              <a:t>90%</a:t>
            </a:r>
            <a:endParaRPr lang="en-US" sz="3600" dirty="0"/>
          </a:p>
        </p:txBody>
      </p:sp>
      <p:sp>
        <p:nvSpPr>
          <p:cNvPr id="9" name="Text 6"/>
          <p:cNvSpPr/>
          <p:nvPr/>
        </p:nvSpPr>
        <p:spPr>
          <a:xfrm>
            <a:off x="914400" y="2743200"/>
            <a:ext cx="2194560" cy="6400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Turnaround Time Reduction</a:t>
            </a:r>
            <a:endParaRPr lang="en-US" sz="1300" dirty="0"/>
          </a:p>
        </p:txBody>
      </p:sp>
      <p:sp>
        <p:nvSpPr>
          <p:cNvPr id="10" name="Text 7"/>
          <p:cNvSpPr/>
          <p:nvPr/>
        </p:nvSpPr>
        <p:spPr>
          <a:xfrm>
            <a:off x="914400" y="3474720"/>
            <a:ext cx="2194560" cy="2103120"/>
          </a:xfrm>
          <a:prstGeom prst="rect">
            <a:avLst/>
          </a:prstGeom>
          <a:noFill/>
          <a:ln/>
        </p:spPr>
        <p:txBody>
          <a:bodyPr wrap="square" rtlCol="0" anchor="ctr"/>
          <a:lstStyle/>
          <a:p>
            <a:pPr algn="ctr" indent="0" marL="0">
              <a:lnSpc>
                <a:spcPts val="1500"/>
              </a:lnSpc>
              <a:buNone/>
            </a:pPr>
            <a:r>
              <a:rPr lang="en-US" sz="1100" dirty="0">
                <a:solidFill>
                  <a:srgbClr val="94A3B8"/>
                </a:solidFill>
                <a:latin typeface="Segoe UI" pitchFamily="34" charset="0"/>
                <a:ea typeface="Segoe UI" pitchFamily="34" charset="-122"/>
                <a:cs typeface="Segoe UI" pitchFamily="34" charset="-120"/>
              </a:rPr>
              <a:t>From 3-5 days of physical courier &amp; paperwork down to under 15 minutes of digital onboarding.</a:t>
            </a:r>
            <a:endParaRPr lang="en-US" sz="1100" dirty="0"/>
          </a:p>
        </p:txBody>
      </p:sp>
      <p:sp>
        <p:nvSpPr>
          <p:cNvPr id="11" name="Shape 8"/>
          <p:cNvSpPr/>
          <p:nvPr/>
        </p:nvSpPr>
        <p:spPr>
          <a:xfrm>
            <a:off x="3474720" y="1463040"/>
            <a:ext cx="2560320" cy="4480560"/>
          </a:xfrm>
          <a:prstGeom prst="roundRect">
            <a:avLst>
              <a:gd name="adj" fmla="val 5357"/>
            </a:avLst>
          </a:prstGeom>
          <a:solidFill>
            <a:srgbClr val="1E293B"/>
          </a:solidFill>
          <a:ln w="12700">
            <a:solidFill>
              <a:srgbClr val="334155"/>
            </a:solidFill>
            <a:prstDash val="solid"/>
          </a:ln>
        </p:spPr>
      </p:sp>
      <p:sp>
        <p:nvSpPr>
          <p:cNvPr id="12" name="Text 9"/>
          <p:cNvSpPr/>
          <p:nvPr/>
        </p:nvSpPr>
        <p:spPr>
          <a:xfrm>
            <a:off x="3657600" y="1828800"/>
            <a:ext cx="2194560" cy="822960"/>
          </a:xfrm>
          <a:prstGeom prst="rect">
            <a:avLst/>
          </a:prstGeom>
          <a:noFill/>
          <a:ln/>
        </p:spPr>
        <p:txBody>
          <a:bodyPr wrap="square" rtlCol="0" anchor="ctr"/>
          <a:lstStyle/>
          <a:p>
            <a:pPr algn="ctr" indent="0" marL="0">
              <a:buNone/>
            </a:pPr>
            <a:r>
              <a:rPr lang="en-US" sz="3600" b="1" dirty="0">
                <a:solidFill>
                  <a:srgbClr val="3B82F6"/>
                </a:solidFill>
                <a:latin typeface="Segoe UI" pitchFamily="34" charset="0"/>
                <a:ea typeface="Segoe UI" pitchFamily="34" charset="-122"/>
                <a:cs typeface="Segoe UI" pitchFamily="34" charset="-120"/>
              </a:rPr>
              <a:t>100%</a:t>
            </a:r>
            <a:endParaRPr lang="en-US" sz="3600" dirty="0"/>
          </a:p>
        </p:txBody>
      </p:sp>
      <p:sp>
        <p:nvSpPr>
          <p:cNvPr id="13" name="Text 10"/>
          <p:cNvSpPr/>
          <p:nvPr/>
        </p:nvSpPr>
        <p:spPr>
          <a:xfrm>
            <a:off x="3657600" y="2743200"/>
            <a:ext cx="2194560" cy="6400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Zero Duplicate Identities</a:t>
            </a:r>
            <a:endParaRPr lang="en-US" sz="1300" dirty="0"/>
          </a:p>
        </p:txBody>
      </p:sp>
      <p:sp>
        <p:nvSpPr>
          <p:cNvPr id="14" name="Text 11"/>
          <p:cNvSpPr/>
          <p:nvPr/>
        </p:nvSpPr>
        <p:spPr>
          <a:xfrm>
            <a:off x="3657600" y="3474720"/>
            <a:ext cx="2194560" cy="2103120"/>
          </a:xfrm>
          <a:prstGeom prst="rect">
            <a:avLst/>
          </a:prstGeom>
          <a:noFill/>
          <a:ln/>
        </p:spPr>
        <p:txBody>
          <a:bodyPr wrap="square" rtlCol="0" anchor="ctr"/>
          <a:lstStyle/>
          <a:p>
            <a:pPr algn="ctr" indent="0" marL="0">
              <a:lnSpc>
                <a:spcPts val="1500"/>
              </a:lnSpc>
              <a:buNone/>
            </a:pPr>
            <a:r>
              <a:rPr lang="en-US" sz="1100" dirty="0">
                <a:solidFill>
                  <a:srgbClr val="94A3B8"/>
                </a:solidFill>
                <a:latin typeface="Segoe UI" pitchFamily="34" charset="0"/>
                <a:ea typeface="Segoe UI" pitchFamily="34" charset="-122"/>
                <a:cs typeface="Segoe UI" pitchFamily="34" charset="-120"/>
              </a:rPr>
              <a:t>Guaranteed unique JBIN identity eliminates duplicate registrations and fractured downlines.</a:t>
            </a:r>
            <a:endParaRPr lang="en-US" sz="1100" dirty="0"/>
          </a:p>
        </p:txBody>
      </p:sp>
      <p:sp>
        <p:nvSpPr>
          <p:cNvPr id="15" name="Shape 12"/>
          <p:cNvSpPr/>
          <p:nvPr/>
        </p:nvSpPr>
        <p:spPr>
          <a:xfrm>
            <a:off x="6217920" y="1463040"/>
            <a:ext cx="2560320" cy="4480560"/>
          </a:xfrm>
          <a:prstGeom prst="roundRect">
            <a:avLst>
              <a:gd name="adj" fmla="val 5357"/>
            </a:avLst>
          </a:prstGeom>
          <a:solidFill>
            <a:srgbClr val="1E293B"/>
          </a:solidFill>
          <a:ln w="12700">
            <a:solidFill>
              <a:srgbClr val="334155"/>
            </a:solidFill>
            <a:prstDash val="solid"/>
          </a:ln>
        </p:spPr>
      </p:sp>
      <p:sp>
        <p:nvSpPr>
          <p:cNvPr id="16" name="Text 13"/>
          <p:cNvSpPr/>
          <p:nvPr/>
        </p:nvSpPr>
        <p:spPr>
          <a:xfrm>
            <a:off x="6400800" y="1828800"/>
            <a:ext cx="2194560" cy="822960"/>
          </a:xfrm>
          <a:prstGeom prst="rect">
            <a:avLst/>
          </a:prstGeom>
          <a:noFill/>
          <a:ln/>
        </p:spPr>
        <p:txBody>
          <a:bodyPr wrap="square" rtlCol="0" anchor="ctr"/>
          <a:lstStyle/>
          <a:p>
            <a:pPr algn="ctr" indent="0" marL="0">
              <a:buNone/>
            </a:pPr>
            <a:r>
              <a:rPr lang="en-US" sz="3600" b="1" dirty="0">
                <a:solidFill>
                  <a:srgbClr val="F59E0B"/>
                </a:solidFill>
                <a:latin typeface="Segoe UI" pitchFamily="34" charset="0"/>
                <a:ea typeface="Segoe UI" pitchFamily="34" charset="-122"/>
                <a:cs typeface="Segoe UI" pitchFamily="34" charset="-120"/>
              </a:rPr>
              <a:t>75%</a:t>
            </a:r>
            <a:endParaRPr lang="en-US" sz="3600" dirty="0"/>
          </a:p>
        </p:txBody>
      </p:sp>
      <p:sp>
        <p:nvSpPr>
          <p:cNvPr id="17" name="Text 14"/>
          <p:cNvSpPr/>
          <p:nvPr/>
        </p:nvSpPr>
        <p:spPr>
          <a:xfrm>
            <a:off x="6400800" y="2743200"/>
            <a:ext cx="2194560" cy="6400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Administrative Cost Savings</a:t>
            </a:r>
            <a:endParaRPr lang="en-US" sz="1300" dirty="0"/>
          </a:p>
        </p:txBody>
      </p:sp>
      <p:sp>
        <p:nvSpPr>
          <p:cNvPr id="18" name="Text 15"/>
          <p:cNvSpPr/>
          <p:nvPr/>
        </p:nvSpPr>
        <p:spPr>
          <a:xfrm>
            <a:off x="6400800" y="3474720"/>
            <a:ext cx="2194560" cy="2103120"/>
          </a:xfrm>
          <a:prstGeom prst="rect">
            <a:avLst/>
          </a:prstGeom>
          <a:noFill/>
          <a:ln/>
        </p:spPr>
        <p:txBody>
          <a:bodyPr wrap="square" rtlCol="0" anchor="ctr"/>
          <a:lstStyle/>
          <a:p>
            <a:pPr algn="ctr" indent="0" marL="0">
              <a:lnSpc>
                <a:spcPts val="1500"/>
              </a:lnSpc>
              <a:buNone/>
            </a:pPr>
            <a:r>
              <a:rPr lang="en-US" sz="1100" dirty="0">
                <a:solidFill>
                  <a:srgbClr val="94A3B8"/>
                </a:solidFill>
                <a:latin typeface="Segoe UI" pitchFamily="34" charset="0"/>
                <a:ea typeface="Segoe UI" pitchFamily="34" charset="-122"/>
                <a:cs typeface="Segoe UI" pitchFamily="34" charset="-120"/>
              </a:rPr>
              <a:t>Eliminates paper printing, physical photo processing, storage filing, and manual courier overhead.</a:t>
            </a:r>
            <a:endParaRPr lang="en-US" sz="1100" dirty="0"/>
          </a:p>
        </p:txBody>
      </p:sp>
      <p:sp>
        <p:nvSpPr>
          <p:cNvPr id="19" name="Shape 16"/>
          <p:cNvSpPr/>
          <p:nvPr/>
        </p:nvSpPr>
        <p:spPr>
          <a:xfrm>
            <a:off x="8961120" y="1463040"/>
            <a:ext cx="2560320" cy="4480560"/>
          </a:xfrm>
          <a:prstGeom prst="roundRect">
            <a:avLst>
              <a:gd name="adj" fmla="val 5357"/>
            </a:avLst>
          </a:prstGeom>
          <a:solidFill>
            <a:srgbClr val="1E293B"/>
          </a:solidFill>
          <a:ln w="12700">
            <a:solidFill>
              <a:srgbClr val="334155"/>
            </a:solidFill>
            <a:prstDash val="solid"/>
          </a:ln>
        </p:spPr>
      </p:sp>
      <p:sp>
        <p:nvSpPr>
          <p:cNvPr id="20" name="Text 17"/>
          <p:cNvSpPr/>
          <p:nvPr/>
        </p:nvSpPr>
        <p:spPr>
          <a:xfrm>
            <a:off x="9144000" y="1828800"/>
            <a:ext cx="2194560" cy="822960"/>
          </a:xfrm>
          <a:prstGeom prst="rect">
            <a:avLst/>
          </a:prstGeom>
          <a:noFill/>
          <a:ln/>
        </p:spPr>
        <p:txBody>
          <a:bodyPr wrap="square" rtlCol="0" anchor="ctr"/>
          <a:lstStyle/>
          <a:p>
            <a:pPr algn="ctr" indent="0" marL="0">
              <a:buNone/>
            </a:pPr>
            <a:r>
              <a:rPr lang="en-US" sz="3600" b="1" dirty="0">
                <a:solidFill>
                  <a:srgbClr val="3B82F6"/>
                </a:solidFill>
                <a:latin typeface="Segoe UI" pitchFamily="34" charset="0"/>
                <a:ea typeface="Segoe UI" pitchFamily="34" charset="-122"/>
                <a:cs typeface="Segoe UI" pitchFamily="34" charset="-120"/>
              </a:rPr>
              <a:t>0%</a:t>
            </a:r>
            <a:endParaRPr lang="en-US" sz="3600" dirty="0"/>
          </a:p>
        </p:txBody>
      </p:sp>
      <p:sp>
        <p:nvSpPr>
          <p:cNvPr id="21" name="Text 18"/>
          <p:cNvSpPr/>
          <p:nvPr/>
        </p:nvSpPr>
        <p:spPr>
          <a:xfrm>
            <a:off x="9144000" y="2743200"/>
            <a:ext cx="2194560" cy="6400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Counterfeiting Vulnerability</a:t>
            </a:r>
            <a:endParaRPr lang="en-US" sz="1300" dirty="0"/>
          </a:p>
        </p:txBody>
      </p:sp>
      <p:sp>
        <p:nvSpPr>
          <p:cNvPr id="22" name="Text 19"/>
          <p:cNvSpPr/>
          <p:nvPr/>
        </p:nvSpPr>
        <p:spPr>
          <a:xfrm>
            <a:off x="9144000" y="3474720"/>
            <a:ext cx="2194560" cy="2103120"/>
          </a:xfrm>
          <a:prstGeom prst="rect">
            <a:avLst/>
          </a:prstGeom>
          <a:noFill/>
          <a:ln/>
        </p:spPr>
        <p:txBody>
          <a:bodyPr wrap="square" rtlCol="0" anchor="ctr"/>
          <a:lstStyle/>
          <a:p>
            <a:pPr algn="ctr" indent="0" marL="0">
              <a:lnSpc>
                <a:spcPts val="1500"/>
              </a:lnSpc>
              <a:buNone/>
            </a:pPr>
            <a:r>
              <a:rPr lang="en-US" sz="1100" dirty="0">
                <a:solidFill>
                  <a:srgbClr val="94A3B8"/>
                </a:solidFill>
                <a:latin typeface="Segoe UI" pitchFamily="34" charset="0"/>
                <a:ea typeface="Segoe UI" pitchFamily="34" charset="-122"/>
                <a:cs typeface="Segoe UI" pitchFamily="34" charset="-120"/>
              </a:rPr>
              <a:t>Instant QR code scan allows clients &amp; authorities to verify authentic credentials on the spot.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ROLLOUT ROADMAP</a:t>
            </a:r>
            <a:endParaRPr lang="en-US" sz="1000" dirty="0"/>
          </a:p>
        </p:txBody>
      </p:sp>
      <p:sp>
        <p:nvSpPr>
          <p:cNvPr id="3" name="Text 1"/>
          <p:cNvSpPr/>
          <p:nvPr/>
        </p:nvSpPr>
        <p:spPr>
          <a:xfrm>
            <a:off x="731520" y="594360"/>
            <a:ext cx="8686800" cy="54864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Rapid 3-Week Phased Implementation Plan</a:t>
            </a:r>
            <a:endParaRPr lang="en-US" sz="2200" dirty="0"/>
          </a:p>
        </p:txBody>
      </p:sp>
      <p:pic>
        <p:nvPicPr>
          <p:cNvPr id="4" name="Image 0" descr="C:\Users\lunav\OneDrive\Desktop\JB\public\logo.png">    </p:cNvPr>
          <p:cNvPicPr>
            <a:picLocks noChangeAspect="1"/>
          </p:cNvPicPr>
          <p:nvPr/>
        </p:nvPicPr>
        <p:blipFill>
          <a:blip r:embed="rId1"/>
          <a:srcRect l="0" r="0" t="0" b="0"/>
          <a:stretch/>
        </p:blipFill>
        <p:spPr>
          <a:xfrm>
            <a:off x="10241280" y="365760"/>
            <a:ext cx="1188720" cy="594360"/>
          </a:xfrm>
          <a:prstGeom prst="rect">
            <a:avLst/>
          </a:prstGeom>
        </p:spPr>
      </p:pic>
      <p:sp>
        <p:nvSpPr>
          <p:cNvPr id="5" name="Shape 2"/>
          <p:cNvSpPr/>
          <p:nvPr/>
        </p:nvSpPr>
        <p:spPr>
          <a:xfrm>
            <a:off x="731520" y="6400800"/>
            <a:ext cx="10698480" cy="18288"/>
          </a:xfrm>
          <a:prstGeom prst="rect">
            <a:avLst/>
          </a:prstGeom>
          <a:solidFill>
            <a:srgbClr val="334155"/>
          </a:solidFill>
          <a:ln w="12700">
            <a:solidFill>
              <a:srgbClr val="334155"/>
            </a:solidFill>
            <a:prstDash val="solid"/>
          </a:ln>
        </p:spPr>
      </p:sp>
      <p:sp>
        <p:nvSpPr>
          <p:cNvPr id="6"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JB Infra Group • Executive &amp; Cadre Management System • Confidential &amp; Proprietary</a:t>
            </a:r>
            <a:endParaRPr lang="en-US" sz="900" dirty="0"/>
          </a:p>
        </p:txBody>
      </p:sp>
      <p:sp>
        <p:nvSpPr>
          <p:cNvPr id="7" name="Shape 4"/>
          <p:cNvSpPr/>
          <p:nvPr/>
        </p:nvSpPr>
        <p:spPr>
          <a:xfrm>
            <a:off x="731520" y="1463040"/>
            <a:ext cx="3383280" cy="4480560"/>
          </a:xfrm>
          <a:prstGeom prst="roundRect">
            <a:avLst>
              <a:gd name="adj" fmla="val 4054"/>
            </a:avLst>
          </a:prstGeom>
          <a:solidFill>
            <a:srgbClr val="1C2541"/>
          </a:solidFill>
          <a:ln w="19050">
            <a:solidFill>
              <a:srgbClr val="3B82F6"/>
            </a:solidFill>
            <a:prstDash val="solid"/>
          </a:ln>
        </p:spPr>
      </p:sp>
      <p:sp>
        <p:nvSpPr>
          <p:cNvPr id="8" name="Shape 5"/>
          <p:cNvSpPr/>
          <p:nvPr/>
        </p:nvSpPr>
        <p:spPr>
          <a:xfrm>
            <a:off x="1005840" y="1737360"/>
            <a:ext cx="1371600" cy="365760"/>
          </a:xfrm>
          <a:prstGeom prst="roundRect">
            <a:avLst>
              <a:gd name="adj" fmla="val 20000"/>
            </a:avLst>
          </a:prstGeom>
          <a:solidFill>
            <a:srgbClr val="172554"/>
          </a:solidFill>
          <a:ln w="12700">
            <a:solidFill>
              <a:srgbClr val="3B82F6"/>
            </a:solidFill>
            <a:prstDash val="solid"/>
          </a:ln>
        </p:spPr>
      </p:sp>
      <p:sp>
        <p:nvSpPr>
          <p:cNvPr id="9" name="Text 6"/>
          <p:cNvSpPr/>
          <p:nvPr/>
        </p:nvSpPr>
        <p:spPr>
          <a:xfrm>
            <a:off x="1005840" y="1737360"/>
            <a:ext cx="1371600" cy="365760"/>
          </a:xfrm>
          <a:prstGeom prst="rect">
            <a:avLst/>
          </a:prstGeom>
          <a:noFill/>
          <a:ln/>
        </p:spPr>
        <p:txBody>
          <a:bodyPr wrap="square" rtlCol="0" anchor="ctr"/>
          <a:lstStyle/>
          <a:p>
            <a:pPr algn="ctr" indent="0" marL="0">
              <a:buNone/>
            </a:pPr>
            <a:r>
              <a:rPr lang="en-US" sz="1000" b="1" dirty="0">
                <a:solidFill>
                  <a:srgbClr val="F59E0B"/>
                </a:solidFill>
                <a:latin typeface="Segoe UI" pitchFamily="34" charset="0"/>
                <a:ea typeface="Segoe UI" pitchFamily="34" charset="-122"/>
                <a:cs typeface="Segoe UI" pitchFamily="34" charset="-120"/>
              </a:rPr>
              <a:t>WEEK 01</a:t>
            </a:r>
            <a:endParaRPr lang="en-US" sz="1000" dirty="0"/>
          </a:p>
        </p:txBody>
      </p:sp>
      <p:sp>
        <p:nvSpPr>
          <p:cNvPr id="10" name="Text 7"/>
          <p:cNvSpPr/>
          <p:nvPr/>
        </p:nvSpPr>
        <p:spPr>
          <a:xfrm>
            <a:off x="1005840" y="2286000"/>
            <a:ext cx="2834640" cy="73152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Environment &amp; Admin Onboarding</a:t>
            </a:r>
            <a:endParaRPr lang="en-US" sz="1600" dirty="0"/>
          </a:p>
        </p:txBody>
      </p:sp>
      <p:sp>
        <p:nvSpPr>
          <p:cNvPr id="11" name="Text 8"/>
          <p:cNvSpPr/>
          <p:nvPr/>
        </p:nvSpPr>
        <p:spPr>
          <a:xfrm>
            <a:off x="1005840" y="3108960"/>
            <a:ext cx="2834640" cy="2560320"/>
          </a:xfrm>
          <a:prstGeom prst="rect">
            <a:avLst/>
          </a:prstGeom>
          <a:noFill/>
          <a:ln/>
        </p:spPr>
        <p:txBody>
          <a:bodyPr wrap="square" rtlCol="0" anchor="ctr"/>
          <a:lstStyle/>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Database deployment &amp; seed execution.</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Role creation (Super Admin, KYC Admin, CED).</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ID Sequence initialization (JBIN series).</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Administrative staff walkthrough.</a:t>
            </a:r>
            <a:endParaRPr lang="en-US" sz="1200" dirty="0"/>
          </a:p>
        </p:txBody>
      </p:sp>
      <p:sp>
        <p:nvSpPr>
          <p:cNvPr id="12" name="Shape 9"/>
          <p:cNvSpPr/>
          <p:nvPr/>
        </p:nvSpPr>
        <p:spPr>
          <a:xfrm>
            <a:off x="4389120" y="1463040"/>
            <a:ext cx="3383280" cy="4480560"/>
          </a:xfrm>
          <a:prstGeom prst="roundRect">
            <a:avLst>
              <a:gd name="adj" fmla="val 4054"/>
            </a:avLst>
          </a:prstGeom>
          <a:solidFill>
            <a:srgbClr val="1C2541"/>
          </a:solidFill>
          <a:ln w="19050">
            <a:solidFill>
              <a:srgbClr val="3B82F6"/>
            </a:solidFill>
            <a:prstDash val="solid"/>
          </a:ln>
        </p:spPr>
      </p:sp>
      <p:sp>
        <p:nvSpPr>
          <p:cNvPr id="13" name="Shape 10"/>
          <p:cNvSpPr/>
          <p:nvPr/>
        </p:nvSpPr>
        <p:spPr>
          <a:xfrm>
            <a:off x="4663440" y="1737360"/>
            <a:ext cx="1371600" cy="365760"/>
          </a:xfrm>
          <a:prstGeom prst="roundRect">
            <a:avLst>
              <a:gd name="adj" fmla="val 20000"/>
            </a:avLst>
          </a:prstGeom>
          <a:solidFill>
            <a:srgbClr val="172554"/>
          </a:solidFill>
          <a:ln w="12700">
            <a:solidFill>
              <a:srgbClr val="3B82F6"/>
            </a:solidFill>
            <a:prstDash val="solid"/>
          </a:ln>
        </p:spPr>
      </p:sp>
      <p:sp>
        <p:nvSpPr>
          <p:cNvPr id="14" name="Text 11"/>
          <p:cNvSpPr/>
          <p:nvPr/>
        </p:nvSpPr>
        <p:spPr>
          <a:xfrm>
            <a:off x="4663440" y="1737360"/>
            <a:ext cx="1371600" cy="365760"/>
          </a:xfrm>
          <a:prstGeom prst="rect">
            <a:avLst/>
          </a:prstGeom>
          <a:noFill/>
          <a:ln/>
        </p:spPr>
        <p:txBody>
          <a:bodyPr wrap="square" rtlCol="0" anchor="ctr"/>
          <a:lstStyle/>
          <a:p>
            <a:pPr algn="ctr" indent="0" marL="0">
              <a:buNone/>
            </a:pPr>
            <a:r>
              <a:rPr lang="en-US" sz="1000" b="1" dirty="0">
                <a:solidFill>
                  <a:srgbClr val="F59E0B"/>
                </a:solidFill>
                <a:latin typeface="Segoe UI" pitchFamily="34" charset="0"/>
                <a:ea typeface="Segoe UI" pitchFamily="34" charset="-122"/>
                <a:cs typeface="Segoe UI" pitchFamily="34" charset="-120"/>
              </a:rPr>
              <a:t>WEEK 02</a:t>
            </a:r>
            <a:endParaRPr lang="en-US" sz="1000" dirty="0"/>
          </a:p>
        </p:txBody>
      </p:sp>
      <p:sp>
        <p:nvSpPr>
          <p:cNvPr id="15" name="Text 12"/>
          <p:cNvSpPr/>
          <p:nvPr/>
        </p:nvSpPr>
        <p:spPr>
          <a:xfrm>
            <a:off x="4663440" y="2286000"/>
            <a:ext cx="2834640" cy="73152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Pilot Launch &amp; Hierarchy Setup</a:t>
            </a:r>
            <a:endParaRPr lang="en-US" sz="1600" dirty="0"/>
          </a:p>
        </p:txBody>
      </p:sp>
      <p:sp>
        <p:nvSpPr>
          <p:cNvPr id="16" name="Text 13"/>
          <p:cNvSpPr/>
          <p:nvPr/>
        </p:nvSpPr>
        <p:spPr>
          <a:xfrm>
            <a:off x="4663440" y="3108960"/>
            <a:ext cx="2834640" cy="2560320"/>
          </a:xfrm>
          <a:prstGeom prst="rect">
            <a:avLst/>
          </a:prstGeom>
          <a:noFill/>
          <a:ln/>
        </p:spPr>
        <p:txBody>
          <a:bodyPr wrap="square" rtlCol="0" anchor="ctr"/>
          <a:lstStyle/>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Pilot enrollment with select Hyderabad branches.</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Upline hierarchy linking for EDs &amp; GMs.</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Split-screen KYC review workflow testing.</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Smart ID card generation and QR scan drills.</a:t>
            </a:r>
            <a:endParaRPr lang="en-US" sz="1200" dirty="0"/>
          </a:p>
        </p:txBody>
      </p:sp>
      <p:sp>
        <p:nvSpPr>
          <p:cNvPr id="17" name="Shape 14"/>
          <p:cNvSpPr/>
          <p:nvPr/>
        </p:nvSpPr>
        <p:spPr>
          <a:xfrm>
            <a:off x="8046720" y="1463040"/>
            <a:ext cx="3383280" cy="4480560"/>
          </a:xfrm>
          <a:prstGeom prst="roundRect">
            <a:avLst>
              <a:gd name="adj" fmla="val 4054"/>
            </a:avLst>
          </a:prstGeom>
          <a:solidFill>
            <a:srgbClr val="1C2541"/>
          </a:solidFill>
          <a:ln w="19050">
            <a:solidFill>
              <a:srgbClr val="3B82F6"/>
            </a:solidFill>
            <a:prstDash val="solid"/>
          </a:ln>
        </p:spPr>
      </p:sp>
      <p:sp>
        <p:nvSpPr>
          <p:cNvPr id="18" name="Shape 15"/>
          <p:cNvSpPr/>
          <p:nvPr/>
        </p:nvSpPr>
        <p:spPr>
          <a:xfrm>
            <a:off x="8321040" y="1737360"/>
            <a:ext cx="1371600" cy="365760"/>
          </a:xfrm>
          <a:prstGeom prst="roundRect">
            <a:avLst>
              <a:gd name="adj" fmla="val 20000"/>
            </a:avLst>
          </a:prstGeom>
          <a:solidFill>
            <a:srgbClr val="172554"/>
          </a:solidFill>
          <a:ln w="12700">
            <a:solidFill>
              <a:srgbClr val="3B82F6"/>
            </a:solidFill>
            <a:prstDash val="solid"/>
          </a:ln>
        </p:spPr>
      </p:sp>
      <p:sp>
        <p:nvSpPr>
          <p:cNvPr id="19" name="Text 16"/>
          <p:cNvSpPr/>
          <p:nvPr/>
        </p:nvSpPr>
        <p:spPr>
          <a:xfrm>
            <a:off x="8321040" y="1737360"/>
            <a:ext cx="1371600" cy="365760"/>
          </a:xfrm>
          <a:prstGeom prst="rect">
            <a:avLst/>
          </a:prstGeom>
          <a:noFill/>
          <a:ln/>
        </p:spPr>
        <p:txBody>
          <a:bodyPr wrap="square" rtlCol="0" anchor="ctr"/>
          <a:lstStyle/>
          <a:p>
            <a:pPr algn="ctr" indent="0" marL="0">
              <a:buNone/>
            </a:pPr>
            <a:r>
              <a:rPr lang="en-US" sz="1000" b="1" dirty="0">
                <a:solidFill>
                  <a:srgbClr val="F59E0B"/>
                </a:solidFill>
                <a:latin typeface="Segoe UI" pitchFamily="34" charset="0"/>
                <a:ea typeface="Segoe UI" pitchFamily="34" charset="-122"/>
                <a:cs typeface="Segoe UI" pitchFamily="34" charset="-120"/>
              </a:rPr>
              <a:t>WEEK 03+</a:t>
            </a:r>
            <a:endParaRPr lang="en-US" sz="1000" dirty="0"/>
          </a:p>
        </p:txBody>
      </p:sp>
      <p:sp>
        <p:nvSpPr>
          <p:cNvPr id="20" name="Text 17"/>
          <p:cNvSpPr/>
          <p:nvPr/>
        </p:nvSpPr>
        <p:spPr>
          <a:xfrm>
            <a:off x="8321040" y="2286000"/>
            <a:ext cx="2834640" cy="73152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Full Rollout &amp; Legacy Migration</a:t>
            </a:r>
            <a:endParaRPr lang="en-US" sz="1600" dirty="0"/>
          </a:p>
        </p:txBody>
      </p:sp>
      <p:sp>
        <p:nvSpPr>
          <p:cNvPr id="21" name="Text 18"/>
          <p:cNvSpPr/>
          <p:nvPr/>
        </p:nvSpPr>
        <p:spPr>
          <a:xfrm>
            <a:off x="8321040" y="3108960"/>
            <a:ext cx="2834640" cy="2560320"/>
          </a:xfrm>
          <a:prstGeom prst="rect">
            <a:avLst/>
          </a:prstGeom>
          <a:noFill/>
          <a:ln/>
        </p:spPr>
        <p:txBody>
          <a:bodyPr wrap="square" rtlCol="0" anchor="ctr"/>
          <a:lstStyle/>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Organization-wide launch across all district teams.</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Migration of active legacy associate data.</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Automated WhatsApp ID card dispatch live.</a:t>
            </a:r>
            <a:endParaRPr lang="en-US" sz="1200" dirty="0"/>
          </a:p>
          <a:p>
            <a:pPr indent="0" marL="0">
              <a:lnSpc>
                <a:spcPts val="1800"/>
              </a:lnSpc>
              <a:buNone/>
            </a:pPr>
            <a:r>
              <a:rPr lang="en-US" sz="1200" dirty="0">
                <a:solidFill>
                  <a:srgbClr val="F1F5F9"/>
                </a:solidFill>
                <a:latin typeface="Segoe UI" pitchFamily="34" charset="0"/>
                <a:ea typeface="Segoe UI" pitchFamily="34" charset="-122"/>
                <a:cs typeface="Segoe UI" pitchFamily="34" charset="-120"/>
              </a:rPr>
              <a:t>• Ongoing performance and audit monitoring.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2B"/>
        </a:solidFill>
      </p:bgPr>
    </p:bg>
    <p:spTree>
      <p:nvGrpSpPr>
        <p:cNvPr id="1" name=""/>
        <p:cNvGrpSpPr/>
        <p:nvPr/>
      </p:nvGrpSpPr>
      <p:grpSpPr>
        <a:xfrm>
          <a:off x="0" y="0"/>
          <a:ext cx="0" cy="0"/>
          <a:chOff x="0" y="0"/>
          <a:chExt cx="0" cy="0"/>
        </a:xfrm>
      </p:grpSpPr>
      <p:pic>
        <p:nvPicPr>
          <p:cNvPr id="2" name="Image 0" descr="C:\Users\lunav\OneDrive\Desktop\JB\public\logo.png">    </p:cNvPr>
          <p:cNvPicPr>
            <a:picLocks noChangeAspect="1"/>
          </p:cNvPicPr>
          <p:nvPr/>
        </p:nvPicPr>
        <p:blipFill>
          <a:blip r:embed="rId1"/>
          <a:srcRect l="0" r="0" t="0" b="0"/>
          <a:stretch/>
        </p:blipFill>
        <p:spPr>
          <a:xfrm>
            <a:off x="4937760" y="822960"/>
            <a:ext cx="2286000" cy="1097280"/>
          </a:xfrm>
          <a:prstGeom prst="rect">
            <a:avLst/>
          </a:prstGeom>
        </p:spPr>
      </p:pic>
      <p:sp>
        <p:nvSpPr>
          <p:cNvPr id="3" name="Text 0"/>
          <p:cNvSpPr/>
          <p:nvPr/>
        </p:nvSpPr>
        <p:spPr>
          <a:xfrm>
            <a:off x="914400" y="2103120"/>
            <a:ext cx="10360152" cy="457200"/>
          </a:xfrm>
          <a:prstGeom prst="rect">
            <a:avLst/>
          </a:prstGeom>
          <a:noFill/>
          <a:ln/>
        </p:spPr>
        <p:txBody>
          <a:bodyPr wrap="square" rtlCol="0" anchor="ctr"/>
          <a:lstStyle/>
          <a:p>
            <a:pPr algn="ctr" indent="0" marL="0">
              <a:buNone/>
            </a:pPr>
            <a:r>
              <a:rPr lang="en-US" sz="1200" b="1" dirty="0">
                <a:solidFill>
                  <a:srgbClr val="F59E0B"/>
                </a:solidFill>
                <a:latin typeface="Segoe UI" pitchFamily="34" charset="0"/>
                <a:ea typeface="Segoe UI" pitchFamily="34" charset="-122"/>
                <a:cs typeface="Segoe UI" pitchFamily="34" charset="-120"/>
              </a:rPr>
              <a:t>TRANSFORMING ASSOCIATE MANAGEMENT TODAY</a:t>
            </a:r>
            <a:endParaRPr lang="en-US" sz="1200" dirty="0"/>
          </a:p>
        </p:txBody>
      </p:sp>
      <p:sp>
        <p:nvSpPr>
          <p:cNvPr id="4" name="Text 1"/>
          <p:cNvSpPr/>
          <p:nvPr/>
        </p:nvSpPr>
        <p:spPr>
          <a:xfrm>
            <a:off x="914400" y="2560320"/>
            <a:ext cx="10360152" cy="731520"/>
          </a:xfrm>
          <a:prstGeom prst="rect">
            <a:avLst/>
          </a:prstGeom>
          <a:noFill/>
          <a:ln/>
        </p:spPr>
        <p:txBody>
          <a:bodyPr wrap="square" rtlCol="0" anchor="ctr"/>
          <a:lstStyle/>
          <a:p>
            <a:pPr algn="ctr" indent="0" marL="0">
              <a:buNone/>
            </a:pPr>
            <a:r>
              <a:rPr lang="en-US" sz="3200" b="1" dirty="0">
                <a:solidFill>
                  <a:srgbClr val="FFFFFF"/>
                </a:solidFill>
                <a:latin typeface="Segoe UI" pitchFamily="34" charset="0"/>
                <a:ea typeface="Segoe UI" pitchFamily="34" charset="-122"/>
                <a:cs typeface="Segoe UI" pitchFamily="34" charset="-120"/>
              </a:rPr>
              <a:t>Ready for Immediate Enterprise Adoption</a:t>
            </a:r>
            <a:endParaRPr lang="en-US" sz="3200" dirty="0"/>
          </a:p>
        </p:txBody>
      </p:sp>
      <p:sp>
        <p:nvSpPr>
          <p:cNvPr id="5" name="Text 2"/>
          <p:cNvSpPr/>
          <p:nvPr/>
        </p:nvSpPr>
        <p:spPr>
          <a:xfrm>
            <a:off x="1828800" y="3291840"/>
            <a:ext cx="8531352" cy="731520"/>
          </a:xfrm>
          <a:prstGeom prst="rect">
            <a:avLst/>
          </a:prstGeom>
          <a:noFill/>
          <a:ln/>
        </p:spPr>
        <p:txBody>
          <a:bodyPr wrap="square" rtlCol="0" anchor="ctr"/>
          <a:lstStyle/>
          <a:p>
            <a:pPr algn="ctr" indent="0" marL="0">
              <a:lnSpc>
                <a:spcPts val="1800"/>
              </a:lnSpc>
              <a:buNone/>
            </a:pPr>
            <a:r>
              <a:rPr lang="en-US" sz="1400" dirty="0">
                <a:solidFill>
                  <a:srgbClr val="94A3B8"/>
                </a:solidFill>
                <a:latin typeface="Segoe UI" pitchFamily="34" charset="0"/>
                <a:ea typeface="Segoe UI" pitchFamily="34" charset="-122"/>
                <a:cs typeface="Segoe UI" pitchFamily="34" charset="-120"/>
              </a:rPr>
              <a:t>The JB Infra Management System is not an idea or concept—it is a production-ready, fully engineered platform that solves core operational bottlenecks from Day 1.</a:t>
            </a:r>
            <a:endParaRPr lang="en-US" sz="1400" dirty="0"/>
          </a:p>
        </p:txBody>
      </p:sp>
      <p:sp>
        <p:nvSpPr>
          <p:cNvPr id="6" name="Shape 3"/>
          <p:cNvSpPr/>
          <p:nvPr/>
        </p:nvSpPr>
        <p:spPr>
          <a:xfrm>
            <a:off x="1097280" y="4206240"/>
            <a:ext cx="3108960" cy="1280160"/>
          </a:xfrm>
          <a:prstGeom prst="roundRect">
            <a:avLst>
              <a:gd name="adj" fmla="val 7143"/>
            </a:avLst>
          </a:prstGeom>
          <a:solidFill>
            <a:srgbClr val="1E293B"/>
          </a:solidFill>
          <a:ln w="12700">
            <a:solidFill>
              <a:srgbClr val="3B82F6"/>
            </a:solidFill>
            <a:prstDash val="solid"/>
          </a:ln>
        </p:spPr>
      </p:sp>
      <p:sp>
        <p:nvSpPr>
          <p:cNvPr id="7" name="Text 4"/>
          <p:cNvSpPr/>
          <p:nvPr/>
        </p:nvSpPr>
        <p:spPr>
          <a:xfrm>
            <a:off x="1280160" y="4389120"/>
            <a:ext cx="2743200" cy="32004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Zero Identity Loss</a:t>
            </a:r>
            <a:endParaRPr lang="en-US" sz="1300" dirty="0"/>
          </a:p>
        </p:txBody>
      </p:sp>
      <p:sp>
        <p:nvSpPr>
          <p:cNvPr id="8" name="Text 5"/>
          <p:cNvSpPr/>
          <p:nvPr/>
        </p:nvSpPr>
        <p:spPr>
          <a:xfrm>
            <a:off x="1280160" y="4754880"/>
            <a:ext cx="2743200" cy="594360"/>
          </a:xfrm>
          <a:prstGeom prst="rect">
            <a:avLst/>
          </a:prstGeom>
          <a:noFill/>
          <a:ln/>
        </p:spPr>
        <p:txBody>
          <a:bodyPr wrap="square" rtlCol="0" anchor="ctr"/>
          <a:lstStyle/>
          <a:p>
            <a:pPr algn="ctr" indent="0" marL="0">
              <a:buNone/>
            </a:pPr>
            <a:r>
              <a:rPr lang="en-US" sz="1050" dirty="0">
                <a:solidFill>
                  <a:srgbClr val="94A3B8"/>
                </a:solidFill>
                <a:latin typeface="Segoe UI" pitchFamily="34" charset="0"/>
                <a:ea typeface="Segoe UI" pitchFamily="34" charset="-122"/>
                <a:cs typeface="Segoe UI" pitchFamily="34" charset="-120"/>
              </a:rPr>
              <a:t>Permanent JBIN identity preserves associate careers for life.</a:t>
            </a:r>
            <a:endParaRPr lang="en-US" sz="1050" dirty="0"/>
          </a:p>
        </p:txBody>
      </p:sp>
      <p:sp>
        <p:nvSpPr>
          <p:cNvPr id="9" name="Shape 6"/>
          <p:cNvSpPr/>
          <p:nvPr/>
        </p:nvSpPr>
        <p:spPr>
          <a:xfrm>
            <a:off x="4572000" y="4206240"/>
            <a:ext cx="3108960" cy="1280160"/>
          </a:xfrm>
          <a:prstGeom prst="roundRect">
            <a:avLst>
              <a:gd name="adj" fmla="val 7143"/>
            </a:avLst>
          </a:prstGeom>
          <a:solidFill>
            <a:srgbClr val="1E293B"/>
          </a:solidFill>
          <a:ln w="12700">
            <a:solidFill>
              <a:srgbClr val="3B82F6"/>
            </a:solidFill>
            <a:prstDash val="solid"/>
          </a:ln>
        </p:spPr>
      </p:sp>
      <p:sp>
        <p:nvSpPr>
          <p:cNvPr id="10" name="Text 7"/>
          <p:cNvSpPr/>
          <p:nvPr/>
        </p:nvSpPr>
        <p:spPr>
          <a:xfrm>
            <a:off x="4754880" y="4389120"/>
            <a:ext cx="2743200" cy="32004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Instant Verification</a:t>
            </a:r>
            <a:endParaRPr lang="en-US" sz="1300" dirty="0"/>
          </a:p>
        </p:txBody>
      </p:sp>
      <p:sp>
        <p:nvSpPr>
          <p:cNvPr id="11" name="Text 8"/>
          <p:cNvSpPr/>
          <p:nvPr/>
        </p:nvSpPr>
        <p:spPr>
          <a:xfrm>
            <a:off x="4754880" y="4754880"/>
            <a:ext cx="2743200" cy="594360"/>
          </a:xfrm>
          <a:prstGeom prst="rect">
            <a:avLst/>
          </a:prstGeom>
          <a:noFill/>
          <a:ln/>
        </p:spPr>
        <p:txBody>
          <a:bodyPr wrap="square" rtlCol="0" anchor="ctr"/>
          <a:lstStyle/>
          <a:p>
            <a:pPr algn="ctr" indent="0" marL="0">
              <a:buNone/>
            </a:pPr>
            <a:r>
              <a:rPr lang="en-US" sz="1050" dirty="0">
                <a:solidFill>
                  <a:srgbClr val="94A3B8"/>
                </a:solidFill>
                <a:latin typeface="Segoe UI" pitchFamily="34" charset="0"/>
                <a:ea typeface="Segoe UI" pitchFamily="34" charset="-122"/>
                <a:cs typeface="Segoe UI" pitchFamily="34" charset="-120"/>
              </a:rPr>
              <a:t>Live split-screen KYC and smartphone QR authentication.</a:t>
            </a:r>
            <a:endParaRPr lang="en-US" sz="1050" dirty="0"/>
          </a:p>
        </p:txBody>
      </p:sp>
      <p:sp>
        <p:nvSpPr>
          <p:cNvPr id="12" name="Shape 9"/>
          <p:cNvSpPr/>
          <p:nvPr/>
        </p:nvSpPr>
        <p:spPr>
          <a:xfrm>
            <a:off x="8046720" y="4206240"/>
            <a:ext cx="3108960" cy="1280160"/>
          </a:xfrm>
          <a:prstGeom prst="roundRect">
            <a:avLst>
              <a:gd name="adj" fmla="val 7143"/>
            </a:avLst>
          </a:prstGeom>
          <a:solidFill>
            <a:srgbClr val="1E293B"/>
          </a:solidFill>
          <a:ln w="12700">
            <a:solidFill>
              <a:srgbClr val="3B82F6"/>
            </a:solidFill>
            <a:prstDash val="solid"/>
          </a:ln>
        </p:spPr>
      </p:sp>
      <p:sp>
        <p:nvSpPr>
          <p:cNvPr id="13" name="Text 10"/>
          <p:cNvSpPr/>
          <p:nvPr/>
        </p:nvSpPr>
        <p:spPr>
          <a:xfrm>
            <a:off x="8229600" y="4389120"/>
            <a:ext cx="2743200" cy="32004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Enterprise Control</a:t>
            </a:r>
            <a:endParaRPr lang="en-US" sz="1300" dirty="0"/>
          </a:p>
        </p:txBody>
      </p:sp>
      <p:sp>
        <p:nvSpPr>
          <p:cNvPr id="14" name="Text 11"/>
          <p:cNvSpPr/>
          <p:nvPr/>
        </p:nvSpPr>
        <p:spPr>
          <a:xfrm>
            <a:off x="8229600" y="4754880"/>
            <a:ext cx="2743200" cy="594360"/>
          </a:xfrm>
          <a:prstGeom prst="rect">
            <a:avLst/>
          </a:prstGeom>
          <a:noFill/>
          <a:ln/>
        </p:spPr>
        <p:txBody>
          <a:bodyPr wrap="square" rtlCol="0" anchor="ctr"/>
          <a:lstStyle/>
          <a:p>
            <a:pPr algn="ctr" indent="0" marL="0">
              <a:buNone/>
            </a:pPr>
            <a:r>
              <a:rPr lang="en-US" sz="1050" dirty="0">
                <a:solidFill>
                  <a:srgbClr val="94A3B8"/>
                </a:solidFill>
                <a:latin typeface="Segoe UI" pitchFamily="34" charset="0"/>
                <a:ea typeface="Segoe UI" pitchFamily="34" charset="-122"/>
                <a:cs typeface="Segoe UI" pitchFamily="34" charset="-120"/>
              </a:rPr>
              <a:t>Fine-grained RBAC, confidential CED, and full audit logs.</a:t>
            </a:r>
            <a:endParaRPr lang="en-US" sz="1050" dirty="0"/>
          </a:p>
        </p:txBody>
      </p:sp>
      <p:sp>
        <p:nvSpPr>
          <p:cNvPr id="15" name="Text 12"/>
          <p:cNvSpPr/>
          <p:nvPr/>
        </p:nvSpPr>
        <p:spPr>
          <a:xfrm>
            <a:off x="914400" y="5760720"/>
            <a:ext cx="10360152" cy="457200"/>
          </a:xfrm>
          <a:prstGeom prst="rect">
            <a:avLst/>
          </a:prstGeom>
          <a:noFill/>
          <a:ln/>
        </p:spPr>
        <p:txBody>
          <a:bodyPr wrap="square" rtlCol="0" anchor="ctr"/>
          <a:lstStyle/>
          <a:p>
            <a:pPr algn="ctr" indent="0" marL="0">
              <a:buNone/>
            </a:pPr>
            <a:r>
              <a:rPr lang="en-US" sz="1300" b="1" dirty="0">
                <a:solidFill>
                  <a:srgbClr val="10B981"/>
                </a:solidFill>
                <a:latin typeface="Segoe UI" pitchFamily="34" charset="0"/>
                <a:ea typeface="Segoe UI" pitchFamily="34" charset="-122"/>
                <a:cs typeface="Segoe UI" pitchFamily="34" charset="-120"/>
              </a:rPr>
              <a:t>Action Requested: Approve System Deployment &amp; Initiate Week 1 Implementation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JB Infra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JB Infra Executive &amp; Cadre Management System</dc:title>
  <dc:subject>Enterprise Digital Transformation Presentation</dc:subject>
  <dc:creator>JB Infra Group</dc:creator>
  <cp:lastModifiedBy>JB Infra Group</cp:lastModifiedBy>
  <cp:revision>1</cp:revision>
  <dcterms:created xsi:type="dcterms:W3CDTF">2026-09-25T07:55:37Z</dcterms:created>
  <dcterms:modified xsi:type="dcterms:W3CDTF">2026-09-25T07:55:37Z</dcterms:modified>
</cp:coreProperties>
</file>